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8" r:id="rId2"/>
    <p:sldId id="257" r:id="rId3"/>
    <p:sldId id="344" r:id="rId4"/>
    <p:sldId id="345" r:id="rId5"/>
    <p:sldId id="346" r:id="rId6"/>
    <p:sldId id="347" r:id="rId7"/>
    <p:sldId id="348" r:id="rId8"/>
    <p:sldId id="352" r:id="rId9"/>
    <p:sldId id="350" r:id="rId10"/>
    <p:sldId id="349" r:id="rId11"/>
    <p:sldId id="351" r:id="rId12"/>
    <p:sldId id="353" r:id="rId13"/>
    <p:sldId id="286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39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35" autoAdjust="0"/>
    <p:restoredTop sz="94660"/>
  </p:normalViewPr>
  <p:slideViewPr>
    <p:cSldViewPr snapToGrid="0">
      <p:cViewPr varScale="1">
        <p:scale>
          <a:sx n="50" d="100"/>
          <a:sy n="50" d="100"/>
        </p:scale>
        <p:origin x="36" y="1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964FBC-A603-4149-BCAB-2D4F768B91F6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DF3FA8-2471-4FD8-B750-534028B4DD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7304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C2D174-CB32-4F11-B7D5-1A7BA59E4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9D795AB-E336-45EB-A305-DD9AC4683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2254FD-84F1-428D-9057-ADAB81B3D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BD85F5-ED05-4F59-AE9E-A58CEDA5B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79A623-0C98-4283-9D38-6AB30199D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8810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1DFFC5-38A8-42C2-A273-FAB663237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7E2275-8578-4DB7-9D83-8CCD9E291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47C62E-4128-4DAC-A65A-27BB07B15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24C588-E11C-4D94-8F48-301C424F2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1D5DEC-11A5-4320-839E-7F51A3AE9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29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E59599-3C19-445B-8494-65877CB89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5B53FD-C5F7-4500-BCF7-72846463F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83EE29-7B5A-4A33-A2E2-95C3F6079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6DC215-611A-40F3-A9AE-4EE2515F4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079D90-5960-4F74-B035-C3B189499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4861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B7EE06-1A7E-4A92-AAD0-9B86B8FF9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688597-0625-4374-89CD-44B8845505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525B3D4-AF4B-4AE8-8394-D610318F67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47BFB0-D7CE-457E-9189-BFF67F8D5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705FD7-3D9F-4845-8269-DDACF1416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2645E4-0207-4203-9E82-F7636B0D5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4387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0BA0D-07F6-4D96-BF5B-9436CB1AF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A570F5-018D-444F-B20D-7729D02D8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1EA175-6F80-498A-B91B-186EB4E9E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88C8E9D-6863-4906-B550-56942E2D37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351414A-34E4-4E1D-8229-4BAA2EB301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1AA7644-2A06-4E36-80B6-059F98256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5C1EA36-C08D-410A-BF83-A04F264E6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1CC500D-50CE-43C2-8933-D267B7AE9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4126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3703C0-9ACF-4AAE-9D37-8D18B26C7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7A6BCB5-73A1-4024-82FE-AF51172CB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FF8ED94-3DD5-42AA-8FF1-38C6499C7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6D23E3A-D959-4203-BD40-C83512760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607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C8A935A-7442-4F58-8D11-325F1B5C6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FFBA2FD-9246-42AD-B56C-E8EA7AE50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FE6B8E-4A69-4A9B-A9DD-5F0CB7237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121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16DA8A-92BC-49DE-A8CF-C983904A3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23E4CE-55E3-4027-A86D-AC29312D7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3CD0D5-63EF-4021-AF42-9F742E4957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8D621F-7A35-4AB1-9015-6EE6F3156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5FD7D6-46C4-408F-847C-245D5126F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6B04C4-A611-43E8-834B-444CAF026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726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CDD74F-EF7A-4889-85F7-871326D4A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E16CC49-48CD-4612-BF78-EBB3B04EE3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087BBA3-126E-40D9-955B-8C8D7877CC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7E777C-8677-437F-9339-DEE00C799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11FACA-F355-4D90-B353-2AE547D56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0C2A7F-AB07-44EB-9EF8-2BEB08E2B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0758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1F0666-4475-4B01-8F4E-B875648A8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97346D4-00C3-47FF-9B09-D4FF35DCC3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E781B1-9EDD-4233-A374-EB535A6E5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826D15-4D50-4692-B46D-F882C66EE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45EE2F-D229-4007-8D9F-7A3820BE1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6292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EF2BF9F-0C81-4E8A-886A-CAEB2C36B6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505AFD-1AA5-45B8-BD53-DA28197BD7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49204C-AB5D-4CA3-9046-1619B2154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FA9E8D-4B61-46A7-A49A-9045BDFD6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EB5F22-C6F7-44D5-ACE0-6E7A148D0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8841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488827D-BBE9-423B-8A3E-16F1434F1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1ACD2B-EAC8-4DAE-80BC-8153D0C80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87A703-9670-4373-B621-3347DC4D14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F23D8-EC25-4018-9CD7-C53C9D694542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25031C-9617-4CD5-AB16-821A2E9453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749AC1-BC97-42DC-BBFB-1FF1599E85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8926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9FB2B1-ADA3-4D09-BE1E-5FE440FEF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7134" y="5409213"/>
            <a:ext cx="2247122" cy="1261535"/>
          </a:xfrm>
        </p:spPr>
        <p:txBody>
          <a:bodyPr>
            <a:noAutofit/>
          </a:bodyPr>
          <a:lstStyle/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빅데이터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UI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양성과정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 err="1">
                <a:solidFill>
                  <a:schemeClr val="bg1"/>
                </a:solidFill>
                <a:latin typeface="+mn-ea"/>
              </a:rPr>
              <a:t>손보금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박준형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심예진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3DA77DD5-F07A-4FA6-8DEA-409A2C5ABB17}"/>
              </a:ext>
            </a:extLst>
          </p:cNvPr>
          <p:cNvSpPr txBox="1">
            <a:spLocks/>
          </p:cNvSpPr>
          <p:nvPr/>
        </p:nvSpPr>
        <p:spPr>
          <a:xfrm>
            <a:off x="982980" y="3100841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빅데이터 분석 모델링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0892D854-65E9-4161-BD25-B1C960BA7B08}"/>
              </a:ext>
            </a:extLst>
          </p:cNvPr>
          <p:cNvSpPr txBox="1">
            <a:spLocks/>
          </p:cNvSpPr>
          <p:nvPr/>
        </p:nvSpPr>
        <p:spPr>
          <a:xfrm>
            <a:off x="838200" y="2051483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5400" dirty="0" err="1">
                <a:solidFill>
                  <a:srgbClr val="2C3930"/>
                </a:solidFill>
              </a:rPr>
              <a:t>astpage</a:t>
            </a:r>
            <a:r>
              <a:rPr lang="en-US" altLang="ko-KR" sz="5400" dirty="0" err="1">
                <a:solidFill>
                  <a:schemeClr val="bg1"/>
                </a:solidFill>
              </a:rPr>
              <a:t>Lastpage</a:t>
            </a:r>
            <a:r>
              <a:rPr lang="en-US" altLang="ko-KR" sz="5400" dirty="0">
                <a:solidFill>
                  <a:schemeClr val="bg1"/>
                </a:solidFill>
              </a:rPr>
              <a:t> Project</a:t>
            </a:r>
            <a:r>
              <a:rPr lang="en-US" altLang="ko-KR" sz="5400" dirty="0">
                <a:solidFill>
                  <a:srgbClr val="2C3930"/>
                </a:solidFill>
              </a:rPr>
              <a:t> </a:t>
            </a:r>
            <a:r>
              <a:rPr lang="en-US" altLang="ko-KR" sz="4800" dirty="0">
                <a:solidFill>
                  <a:srgbClr val="2C3930"/>
                </a:solidFill>
              </a:rPr>
              <a:t>Project</a:t>
            </a:r>
            <a:endParaRPr lang="ko-KR" altLang="en-US" sz="4800" dirty="0">
              <a:solidFill>
                <a:srgbClr val="2C393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C62395-CB82-C6B8-18EC-276CC2A8E7CC}"/>
              </a:ext>
            </a:extLst>
          </p:cNvPr>
          <p:cNvSpPr txBox="1"/>
          <p:nvPr/>
        </p:nvSpPr>
        <p:spPr>
          <a:xfrm>
            <a:off x="-129540" y="4450080"/>
            <a:ext cx="12420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pic>
        <p:nvPicPr>
          <p:cNvPr id="13" name="그림 1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47CCDA8-F2F2-6E33-1693-7115E4B9C6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221163"/>
            <a:ext cx="807629" cy="80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974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D2E548-C65D-48A7-AF17-BB29D6CB8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42967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en-US" altLang="ko-KR" sz="2800" dirty="0"/>
              <a:t>INDEX </a:t>
            </a:r>
            <a:r>
              <a:rPr lang="ko-KR" altLang="en-US" sz="2800" dirty="0"/>
              <a:t>및 </a:t>
            </a:r>
            <a:r>
              <a:rPr lang="en-US" altLang="ko-KR" sz="2800" dirty="0"/>
              <a:t>CONTENTS</a:t>
            </a:r>
            <a:endParaRPr lang="ko-KR" altLang="en-US" sz="2800" dirty="0"/>
          </a:p>
        </p:txBody>
      </p:sp>
      <p:pic>
        <p:nvPicPr>
          <p:cNvPr id="5" name="그림 4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4B4ED27-7257-EC1F-98C4-E6E38551F9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31" y="236265"/>
            <a:ext cx="815249" cy="8152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C93E1F-B78C-523A-B7A0-7AA31B32F725}"/>
              </a:ext>
            </a:extLst>
          </p:cNvPr>
          <p:cNvSpPr txBox="1"/>
          <p:nvPr/>
        </p:nvSpPr>
        <p:spPr>
          <a:xfrm>
            <a:off x="11446707" y="6439943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1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EA2501B-6B7D-417C-BE87-5373F6C9C5A5}"/>
              </a:ext>
            </a:extLst>
          </p:cNvPr>
          <p:cNvSpPr txBox="1">
            <a:spLocks/>
          </p:cNvSpPr>
          <p:nvPr/>
        </p:nvSpPr>
        <p:spPr>
          <a:xfrm>
            <a:off x="475542" y="2103098"/>
            <a:ext cx="11256675" cy="37602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데이터 불러오기 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------------------------------------------------------------------------------------------------  </a:t>
            </a:r>
            <a:r>
              <a:rPr lang="ko-KR" altLang="en-US" sz="1500" b="1" dirty="0" err="1">
                <a:solidFill>
                  <a:schemeClr val="bg1"/>
                </a:solidFill>
                <a:latin typeface="+mj-lt"/>
              </a:rPr>
              <a:t>손보금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2p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데이터 구조 확인하기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-------------------------------------------------------------------------------------------- </a:t>
            </a:r>
            <a:r>
              <a:rPr lang="ko-KR" altLang="en-US" sz="1500" b="1" dirty="0" err="1">
                <a:solidFill>
                  <a:schemeClr val="bg1"/>
                </a:solidFill>
                <a:latin typeface="+mj-lt"/>
              </a:rPr>
              <a:t>손보금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3p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–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4p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자료형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/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메모리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/ </a:t>
            </a:r>
            <a:r>
              <a:rPr lang="ko-KR" altLang="en-US" sz="1500" b="1" dirty="0" err="1">
                <a:solidFill>
                  <a:schemeClr val="bg1"/>
                </a:solidFill>
                <a:latin typeface="+mj-lt"/>
              </a:rPr>
              <a:t>결측치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 확인하기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------------------------------------------------------------------------------- </a:t>
            </a:r>
            <a:r>
              <a:rPr lang="ko-KR" altLang="en-US" sz="1500" b="1" dirty="0" err="1">
                <a:solidFill>
                  <a:schemeClr val="bg1"/>
                </a:solidFill>
                <a:latin typeface="+mj-lt"/>
              </a:rPr>
              <a:t>손보금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5p – 6p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수치형 통계 요약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(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평균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,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표준편차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,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최대값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,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최소값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,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사분위수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) ---------------------------------------------------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박준형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7P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범주형 통계 요약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(</a:t>
            </a:r>
            <a:r>
              <a:rPr lang="ko-KR" altLang="en-US" sz="1500" b="1" dirty="0" err="1">
                <a:solidFill>
                  <a:schemeClr val="bg1"/>
                </a:solidFill>
                <a:latin typeface="+mj-lt"/>
              </a:rPr>
              <a:t>총개수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, </a:t>
            </a:r>
            <a:r>
              <a:rPr lang="ko-KR" altLang="en-US" sz="1500" b="1" dirty="0" err="1">
                <a:solidFill>
                  <a:schemeClr val="bg1"/>
                </a:solidFill>
                <a:latin typeface="+mj-lt"/>
              </a:rPr>
              <a:t>최빈값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 등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) ----------------------------------------------------------------------------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박준형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8P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1500" b="1" dirty="0" err="1">
                <a:solidFill>
                  <a:schemeClr val="bg1"/>
                </a:solidFill>
                <a:latin typeface="+mj-lt"/>
              </a:rPr>
              <a:t>컬럼별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 결측 여부 확인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 -------------------------------------------------------------------------------------------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박준형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8P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altLang="ko-KR" sz="1500" b="1" dirty="0" err="1">
                <a:solidFill>
                  <a:schemeClr val="bg1"/>
                </a:solidFill>
                <a:latin typeface="+mj-lt"/>
              </a:rPr>
              <a:t>Item_Type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 – </a:t>
            </a:r>
            <a:r>
              <a:rPr lang="en-US" altLang="ko-KR" sz="1500" b="1" dirty="0" err="1">
                <a:solidFill>
                  <a:schemeClr val="bg1"/>
                </a:solidFill>
                <a:latin typeface="+mj-lt"/>
              </a:rPr>
              <a:t>Item_Outlet_Sales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값 간의 회귀분석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(OLS) -------------------------------------------------------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심예진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9P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그래프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------------------------------------------------------------------------------------------------------------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심예진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10P</a:t>
            </a:r>
          </a:p>
        </p:txBody>
      </p:sp>
    </p:spTree>
    <p:extLst>
      <p:ext uri="{BB962C8B-B14F-4D97-AF65-F5344CB8AC3E}">
        <p14:creationId xmlns:p14="http://schemas.microsoft.com/office/powerpoint/2010/main" val="2484274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1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9088855-99D6-432D-A529-83D9A34BC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194" y="1698390"/>
            <a:ext cx="8102455" cy="48758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D337DF-6FB7-4F2F-A05F-8FB445AD04D9}"/>
              </a:ext>
            </a:extLst>
          </p:cNvPr>
          <p:cNvSpPr txBox="1"/>
          <p:nvPr/>
        </p:nvSpPr>
        <p:spPr>
          <a:xfrm>
            <a:off x="8996516" y="2492477"/>
            <a:ext cx="278972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</a:rPr>
              <a:t>예진</a:t>
            </a:r>
            <a:br>
              <a:rPr lang="en-US" altLang="ko-KR" dirty="0">
                <a:solidFill>
                  <a:schemeClr val="bg1"/>
                </a:solidFill>
              </a:rPr>
            </a:br>
            <a:r>
              <a:rPr lang="en-US" altLang="ko-KR" dirty="0">
                <a:solidFill>
                  <a:schemeClr val="bg1"/>
                </a:solidFill>
              </a:rPr>
              <a:t>- </a:t>
            </a:r>
            <a:r>
              <a:rPr lang="ko-KR" altLang="en-US" dirty="0">
                <a:solidFill>
                  <a:schemeClr val="bg1"/>
                </a:solidFill>
              </a:rPr>
              <a:t>문제 </a:t>
            </a:r>
            <a:r>
              <a:rPr lang="en-US" altLang="ko-KR" dirty="0">
                <a:solidFill>
                  <a:schemeClr val="bg1"/>
                </a:solidFill>
              </a:rPr>
              <a:t>- </a:t>
            </a:r>
            <a:r>
              <a:rPr lang="ko-KR" altLang="en-US" dirty="0">
                <a:solidFill>
                  <a:schemeClr val="bg1"/>
                </a:solidFill>
              </a:rPr>
              <a:t>부분에서 </a:t>
            </a:r>
            <a:r>
              <a:rPr lang="en-US" altLang="ko-KR" dirty="0">
                <a:solidFill>
                  <a:schemeClr val="bg1"/>
                </a:solidFill>
              </a:rPr>
              <a:t>1) ~ 3)</a:t>
            </a:r>
            <a:r>
              <a:rPr lang="ko-KR" altLang="en-US" dirty="0">
                <a:solidFill>
                  <a:schemeClr val="bg1"/>
                </a:solidFill>
              </a:rPr>
              <a:t>까지 </a:t>
            </a:r>
            <a:r>
              <a:rPr lang="en-US" altLang="ko-KR" dirty="0">
                <a:solidFill>
                  <a:schemeClr val="bg1"/>
                </a:solidFill>
              </a:rPr>
              <a:t>ppt </a:t>
            </a:r>
          </a:p>
          <a:p>
            <a:endParaRPr lang="en-US" altLang="ko-KR" dirty="0">
              <a:solidFill>
                <a:schemeClr val="bg1"/>
              </a:solidFill>
            </a:endParaRPr>
          </a:p>
          <a:p>
            <a:r>
              <a:rPr lang="ko-KR" altLang="en-US" b="1" dirty="0" err="1">
                <a:solidFill>
                  <a:schemeClr val="bg1"/>
                </a:solidFill>
              </a:rPr>
              <a:t>보금</a:t>
            </a:r>
            <a:endParaRPr lang="en-US" altLang="ko-KR" b="1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</a:rPr>
              <a:t>문제 </a:t>
            </a:r>
            <a:r>
              <a:rPr lang="en-US" altLang="ko-KR" dirty="0">
                <a:solidFill>
                  <a:schemeClr val="bg1"/>
                </a:solidFill>
              </a:rPr>
              <a:t>– </a:t>
            </a:r>
            <a:r>
              <a:rPr lang="ko-KR" altLang="en-US" dirty="0">
                <a:solidFill>
                  <a:schemeClr val="bg1"/>
                </a:solidFill>
              </a:rPr>
              <a:t>부분에서 </a:t>
            </a:r>
            <a:r>
              <a:rPr lang="en-US" altLang="ko-KR" dirty="0">
                <a:solidFill>
                  <a:schemeClr val="bg1"/>
                </a:solidFill>
              </a:rPr>
              <a:t>4) ~ 5) </a:t>
            </a:r>
            <a:r>
              <a:rPr lang="ko-KR" altLang="en-US" dirty="0">
                <a:solidFill>
                  <a:schemeClr val="bg1"/>
                </a:solidFill>
              </a:rPr>
              <a:t>까지 </a:t>
            </a:r>
            <a:r>
              <a:rPr lang="en-US" altLang="ko-KR" dirty="0">
                <a:solidFill>
                  <a:schemeClr val="bg1"/>
                </a:solidFill>
              </a:rPr>
              <a:t>ppt</a:t>
            </a:r>
          </a:p>
        </p:txBody>
      </p:sp>
    </p:spTree>
    <p:extLst>
      <p:ext uri="{BB962C8B-B14F-4D97-AF65-F5344CB8AC3E}">
        <p14:creationId xmlns:p14="http://schemas.microsoft.com/office/powerpoint/2010/main" val="2151910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 및 평가 지표 확인</a:t>
            </a: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(MSE, MAE, RMSE, R2)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46E2D2-5252-49B6-B59F-BE2DFA151D2F}"/>
              </a:ext>
            </a:extLst>
          </p:cNvPr>
          <p:cNvSpPr txBox="1"/>
          <p:nvPr/>
        </p:nvSpPr>
        <p:spPr>
          <a:xfrm>
            <a:off x="557939" y="1865294"/>
            <a:ext cx="1095588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en-US" altLang="ko-KR" sz="1200" b="1" dirty="0">
                <a:solidFill>
                  <a:schemeClr val="bg1"/>
                </a:solidFill>
              </a:rPr>
              <a:t>MSE(Mean Squared Error : </a:t>
            </a:r>
            <a:r>
              <a:rPr lang="ko-KR" altLang="en-US" sz="1200" b="1" dirty="0" err="1">
                <a:solidFill>
                  <a:schemeClr val="bg1"/>
                </a:solidFill>
              </a:rPr>
              <a:t>평균제곱오차</a:t>
            </a:r>
            <a:r>
              <a:rPr lang="en-US" altLang="ko-KR" sz="1200" b="1" dirty="0">
                <a:solidFill>
                  <a:schemeClr val="bg1"/>
                </a:solidFill>
              </a:rPr>
              <a:t>)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</a:t>
            </a:r>
            <a:r>
              <a:rPr lang="ko-KR" altLang="en-US" sz="1200" dirty="0">
                <a:solidFill>
                  <a:schemeClr val="bg1"/>
                </a:solidFill>
              </a:rPr>
              <a:t> 오차를 제곱하므로 큰 오차에 더 민감하여 이상치에 대한 영향을 크게 받는 값이다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MSE</a:t>
            </a:r>
            <a:r>
              <a:rPr lang="ko-KR" altLang="en-US" sz="1200" dirty="0">
                <a:solidFill>
                  <a:schemeClr val="bg1"/>
                </a:solidFill>
              </a:rPr>
              <a:t>의 값이 작을수록 </a:t>
            </a:r>
            <a:r>
              <a:rPr lang="ko-KR" altLang="en-US" sz="1200" dirty="0" err="1">
                <a:solidFill>
                  <a:schemeClr val="bg1"/>
                </a:solidFill>
              </a:rPr>
              <a:t>실제값과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</a:rPr>
              <a:t>예측값의</a:t>
            </a:r>
            <a:r>
              <a:rPr lang="ko-KR" altLang="en-US" sz="1200" dirty="0">
                <a:solidFill>
                  <a:schemeClr val="bg1"/>
                </a:solidFill>
              </a:rPr>
              <a:t> 차이가 작다</a:t>
            </a:r>
            <a:r>
              <a:rPr lang="en-US" altLang="ko-KR" sz="1200" dirty="0">
                <a:solidFill>
                  <a:schemeClr val="bg1"/>
                </a:solidFill>
              </a:rPr>
              <a:t>. -&gt; </a:t>
            </a:r>
            <a:r>
              <a:rPr lang="ko-KR" altLang="en-US" sz="1200" dirty="0">
                <a:solidFill>
                  <a:schemeClr val="bg1"/>
                </a:solidFill>
              </a:rPr>
              <a:t>값이 작을수록 좋음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값의 범위 </a:t>
            </a:r>
            <a:r>
              <a:rPr lang="en-US" altLang="ko-KR" sz="1200" dirty="0">
                <a:solidFill>
                  <a:schemeClr val="bg1"/>
                </a:solidFill>
              </a:rPr>
              <a:t>: 0 ~ </a:t>
            </a:r>
            <a:r>
              <a:rPr lang="ko-KR" altLang="en-US" sz="1200" dirty="0">
                <a:solidFill>
                  <a:schemeClr val="bg1"/>
                </a:solidFill>
              </a:rPr>
              <a:t>무한대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dirty="0">
              <a:solidFill>
                <a:schemeClr val="bg1"/>
              </a:solidFill>
            </a:endParaRPr>
          </a:p>
          <a:p>
            <a:pPr marL="228600" indent="-228600">
              <a:buAutoNum type="arabicPeriod"/>
            </a:pPr>
            <a:r>
              <a:rPr lang="en-US" altLang="ko-KR" sz="1200" b="1" dirty="0">
                <a:solidFill>
                  <a:schemeClr val="bg1"/>
                </a:solidFill>
              </a:rPr>
              <a:t>MAE(Mean Absolute Error : </a:t>
            </a:r>
            <a:r>
              <a:rPr lang="ko-KR" altLang="en-US" sz="1200" b="1" dirty="0">
                <a:solidFill>
                  <a:schemeClr val="bg1"/>
                </a:solidFill>
              </a:rPr>
              <a:t>평균절대오차</a:t>
            </a:r>
            <a:r>
              <a:rPr lang="en-US" altLang="ko-KR" sz="1200" b="1" dirty="0">
                <a:solidFill>
                  <a:schemeClr val="bg1"/>
                </a:solidFill>
              </a:rPr>
              <a:t>)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회귀 모델의 </a:t>
            </a:r>
            <a:r>
              <a:rPr lang="ko-KR" altLang="en-US" sz="1200" dirty="0" err="1">
                <a:solidFill>
                  <a:schemeClr val="bg1"/>
                </a:solidFill>
              </a:rPr>
              <a:t>예측값이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</a:rPr>
              <a:t>실제값과</a:t>
            </a:r>
            <a:r>
              <a:rPr lang="ko-KR" altLang="en-US" sz="1200" dirty="0">
                <a:solidFill>
                  <a:schemeClr val="bg1"/>
                </a:solidFill>
              </a:rPr>
              <a:t> 얼마나 차이가 나는지를 측정하는 가장 직관적인 오차 지표이다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모든 예측이 </a:t>
            </a:r>
            <a:r>
              <a:rPr lang="ko-KR" altLang="en-US" sz="1200" dirty="0" err="1">
                <a:solidFill>
                  <a:schemeClr val="bg1"/>
                </a:solidFill>
              </a:rPr>
              <a:t>실제값에서</a:t>
            </a:r>
            <a:r>
              <a:rPr lang="ko-KR" altLang="en-US" sz="1200" dirty="0">
                <a:solidFill>
                  <a:schemeClr val="bg1"/>
                </a:solidFill>
              </a:rPr>
              <a:t> 평균적으로 얼마나 벗어났는가를 절댓값 기준으로 계산한다</a:t>
            </a:r>
            <a:r>
              <a:rPr lang="en-US" altLang="ko-KR" sz="1200" dirty="0">
                <a:solidFill>
                  <a:schemeClr val="bg1"/>
                </a:solidFill>
              </a:rPr>
              <a:t>.!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제곱이 아닌 절댓값이므로 큰 오차에 대해 과도하게 </a:t>
            </a:r>
            <a:r>
              <a:rPr lang="ko-KR" altLang="en-US" sz="1200" dirty="0" err="1">
                <a:solidFill>
                  <a:schemeClr val="bg1"/>
                </a:solidFill>
              </a:rPr>
              <a:t>영향받지</a:t>
            </a:r>
            <a:r>
              <a:rPr lang="ko-KR" altLang="en-US" sz="1200" dirty="0">
                <a:solidFill>
                  <a:schemeClr val="bg1"/>
                </a:solidFill>
              </a:rPr>
              <a:t> 않는다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그래서 이상치가 포함된 데이터에서 안정적인 지표로 자주 사용된다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값의 범위 </a:t>
            </a:r>
            <a:r>
              <a:rPr lang="en-US" altLang="ko-KR" sz="1200" dirty="0">
                <a:solidFill>
                  <a:schemeClr val="bg1"/>
                </a:solidFill>
              </a:rPr>
              <a:t>: 0 ~ </a:t>
            </a:r>
            <a:r>
              <a:rPr lang="ko-KR" altLang="en-US" sz="1200" dirty="0">
                <a:solidFill>
                  <a:schemeClr val="bg1"/>
                </a:solidFill>
              </a:rPr>
              <a:t>무한대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dirty="0">
              <a:solidFill>
                <a:schemeClr val="bg1"/>
              </a:solidFill>
            </a:endParaRPr>
          </a:p>
          <a:p>
            <a:pPr marL="228600" indent="-228600">
              <a:buAutoNum type="arabicPeriod"/>
            </a:pPr>
            <a:r>
              <a:rPr lang="en-US" altLang="ko-KR" sz="1200" b="1" dirty="0">
                <a:solidFill>
                  <a:schemeClr val="bg1"/>
                </a:solidFill>
              </a:rPr>
              <a:t>RMSE(Root Mean Squared Error : </a:t>
            </a:r>
            <a:r>
              <a:rPr lang="ko-KR" altLang="en-US" sz="1200" b="1" dirty="0" err="1">
                <a:solidFill>
                  <a:schemeClr val="bg1"/>
                </a:solidFill>
              </a:rPr>
              <a:t>평균제곱근오차</a:t>
            </a:r>
            <a:r>
              <a:rPr lang="en-US" altLang="ko-KR" sz="1200" b="1" dirty="0">
                <a:solidFill>
                  <a:schemeClr val="bg1"/>
                </a:solidFill>
              </a:rPr>
              <a:t>)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예측 오차를 제곱해 평균</a:t>
            </a:r>
            <a:r>
              <a:rPr lang="en-US" altLang="ko-KR" sz="1200" dirty="0">
                <a:solidFill>
                  <a:schemeClr val="bg1"/>
                </a:solidFill>
              </a:rPr>
              <a:t>(MSE)</a:t>
            </a:r>
            <a:r>
              <a:rPr lang="ko-KR" altLang="en-US" sz="1200" dirty="0">
                <a:solidFill>
                  <a:schemeClr val="bg1"/>
                </a:solidFill>
              </a:rPr>
              <a:t>을 낸 뒤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다시 제곱근을 취한 값이다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타깃 변수와 같은 단위로 표현되는 </a:t>
            </a:r>
            <a:r>
              <a:rPr lang="en-US" altLang="ko-KR" sz="1200" dirty="0">
                <a:solidFill>
                  <a:schemeClr val="bg1"/>
                </a:solidFill>
              </a:rPr>
              <a:t>“</a:t>
            </a:r>
            <a:r>
              <a:rPr lang="ko-KR" altLang="en-US" sz="1200" dirty="0">
                <a:solidFill>
                  <a:schemeClr val="bg1"/>
                </a:solidFill>
              </a:rPr>
              <a:t>평균적인 오차 규모</a:t>
            </a:r>
            <a:r>
              <a:rPr lang="en-US" altLang="ko-KR" sz="1200" dirty="0">
                <a:solidFill>
                  <a:schemeClr val="bg1"/>
                </a:solidFill>
              </a:rPr>
              <a:t>＂</a:t>
            </a:r>
            <a:r>
              <a:rPr lang="ko-KR" altLang="en-US" sz="1200" dirty="0">
                <a:solidFill>
                  <a:schemeClr val="bg1"/>
                </a:solidFill>
              </a:rPr>
              <a:t>로 값이 작을수록 예측이 정확하다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제곱근을 취하므로 원 데이터와 동일한 단위라 해석이 직관적이다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제곱을 사용하므로 이상치가 클 수록 지표에 영향이 크다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오차 분포가 대략 정상분포일 때</a:t>
            </a:r>
            <a:r>
              <a:rPr lang="en-US" altLang="ko-KR" sz="1200" dirty="0">
                <a:solidFill>
                  <a:schemeClr val="bg1"/>
                </a:solidFill>
              </a:rPr>
              <a:t>, RMSE</a:t>
            </a:r>
            <a:r>
              <a:rPr lang="ko-KR" altLang="en-US" sz="1200" dirty="0">
                <a:solidFill>
                  <a:schemeClr val="bg1"/>
                </a:solidFill>
              </a:rPr>
              <a:t>는 오차의 전형적 크기를 잘 대표한다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값의 범위 </a:t>
            </a:r>
            <a:r>
              <a:rPr lang="en-US" altLang="ko-KR" sz="1200" dirty="0">
                <a:solidFill>
                  <a:schemeClr val="bg1"/>
                </a:solidFill>
              </a:rPr>
              <a:t>: 0 ~ </a:t>
            </a:r>
            <a:r>
              <a:rPr lang="ko-KR" altLang="en-US" sz="1200" dirty="0">
                <a:solidFill>
                  <a:schemeClr val="bg1"/>
                </a:solidFill>
              </a:rPr>
              <a:t>무한대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dirty="0">
              <a:solidFill>
                <a:schemeClr val="bg1"/>
              </a:solidFill>
            </a:endParaRPr>
          </a:p>
          <a:p>
            <a:pPr marL="228600" indent="-228600">
              <a:buAutoNum type="arabicPeriod"/>
            </a:pPr>
            <a:r>
              <a:rPr lang="en-US" altLang="ko-KR" sz="1200" b="1" dirty="0">
                <a:solidFill>
                  <a:schemeClr val="bg1"/>
                </a:solidFill>
              </a:rPr>
              <a:t>. R2(Coefficient of Determination : </a:t>
            </a:r>
            <a:r>
              <a:rPr lang="ko-KR" altLang="en-US" sz="1200" b="1" dirty="0">
                <a:solidFill>
                  <a:schemeClr val="bg1"/>
                </a:solidFill>
              </a:rPr>
              <a:t>결정계수</a:t>
            </a:r>
            <a:r>
              <a:rPr lang="en-US" altLang="ko-KR" sz="1200" b="1" dirty="0">
                <a:solidFill>
                  <a:schemeClr val="bg1"/>
                </a:solidFill>
              </a:rPr>
              <a:t>)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모델이 실제 데이터를 얼마나 잘 설명하는지를 나타내는 계수로 </a:t>
            </a:r>
            <a:r>
              <a:rPr lang="en-US" altLang="ko-KR" sz="1200" dirty="0">
                <a:solidFill>
                  <a:schemeClr val="bg1"/>
                </a:solidFill>
              </a:rPr>
              <a:t>1</a:t>
            </a:r>
            <a:r>
              <a:rPr lang="ko-KR" altLang="en-US" sz="1200" dirty="0">
                <a:solidFill>
                  <a:schemeClr val="bg1"/>
                </a:solidFill>
              </a:rPr>
              <a:t>에 가까울 수록 완벽한 예측이라고 판단한다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변수를 추가할수록 자동으로 증가하기 때문에 주의해야한다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ko-KR" altLang="en-US" sz="1200" dirty="0">
                <a:solidFill>
                  <a:schemeClr val="bg1"/>
                </a:solidFill>
              </a:rPr>
              <a:t>값의 범위 </a:t>
            </a:r>
            <a:r>
              <a:rPr lang="en-US" altLang="ko-KR" sz="1200" dirty="0">
                <a:solidFill>
                  <a:schemeClr val="bg1"/>
                </a:solidFill>
              </a:rPr>
              <a:t>: -</a:t>
            </a:r>
            <a:r>
              <a:rPr lang="ko-KR" altLang="en-US" sz="1200" dirty="0">
                <a:solidFill>
                  <a:schemeClr val="bg1"/>
                </a:solidFill>
              </a:rPr>
              <a:t>무한대 </a:t>
            </a:r>
            <a:r>
              <a:rPr lang="en-US" altLang="ko-KR" sz="1200" dirty="0">
                <a:solidFill>
                  <a:schemeClr val="bg1"/>
                </a:solidFill>
              </a:rPr>
              <a:t>~ 1</a:t>
            </a:r>
          </a:p>
        </p:txBody>
      </p:sp>
    </p:spTree>
    <p:extLst>
      <p:ext uri="{BB962C8B-B14F-4D97-AF65-F5344CB8AC3E}">
        <p14:creationId xmlns:p14="http://schemas.microsoft.com/office/powerpoint/2010/main" val="38846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 및 평가 지표 확인</a:t>
            </a: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(MSE, MAE, RMSE, R2) – </a:t>
            </a: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학습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4AFDAE1-0942-4923-80DE-D01A2A20C6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759" y="2373410"/>
            <a:ext cx="4858427" cy="124794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95B618C-12F0-4E76-8347-0FE888FBC4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7760" y="4799992"/>
            <a:ext cx="4858428" cy="647790"/>
          </a:xfrm>
          <a:prstGeom prst="rect">
            <a:avLst/>
          </a:prstGeom>
        </p:spPr>
      </p:pic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DFEFC739-17BF-47BF-A615-A4209378A963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rot="16200000" flipH="1">
            <a:off x="2967657" y="4210674"/>
            <a:ext cx="1178633" cy="1"/>
          </a:xfrm>
          <a:prstGeom prst="bentConnector3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8F8B5B5-573B-48AA-8B28-25B66C243EC6}"/>
              </a:ext>
            </a:extLst>
          </p:cNvPr>
          <p:cNvSpPr txBox="1"/>
          <p:nvPr/>
        </p:nvSpPr>
        <p:spPr>
          <a:xfrm>
            <a:off x="6788261" y="2136353"/>
            <a:ext cx="4997983" cy="3749937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/>
                </a:solidFill>
              </a:rPr>
              <a:t>&lt;</a:t>
            </a:r>
            <a:r>
              <a:rPr lang="ko-KR" altLang="en-US" sz="1200" dirty="0">
                <a:solidFill>
                  <a:schemeClr val="bg1"/>
                </a:solidFill>
              </a:rPr>
              <a:t>선형회귀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en-US" altLang="ko-KR" sz="1200" dirty="0" err="1">
                <a:solidFill>
                  <a:schemeClr val="bg1"/>
                </a:solidFill>
              </a:rPr>
              <a:t>LinearRegression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  <a:r>
              <a:rPr lang="ko-KR" altLang="en-US" sz="1200" dirty="0">
                <a:solidFill>
                  <a:schemeClr val="bg1"/>
                </a:solidFill>
              </a:rPr>
              <a:t>을 사용하여 학습</a:t>
            </a:r>
            <a:r>
              <a:rPr lang="en-US" altLang="ko-KR" sz="1200" dirty="0">
                <a:solidFill>
                  <a:schemeClr val="bg1"/>
                </a:solidFill>
              </a:rPr>
              <a:t>&gt;</a:t>
            </a:r>
          </a:p>
          <a:p>
            <a:endParaRPr lang="en-US" altLang="ko-KR" sz="1200" dirty="0">
              <a:solidFill>
                <a:schemeClr val="bg1"/>
              </a:solidFill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</a:rPr>
              <a:t>모델 학습을 위한 라이브러리를 불러옵니다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</a:rPr>
              <a:t>이름이 </a:t>
            </a:r>
            <a:r>
              <a:rPr lang="en-US" altLang="ko-KR" sz="1200" dirty="0" err="1">
                <a:solidFill>
                  <a:schemeClr val="bg1"/>
                </a:solidFill>
              </a:rPr>
              <a:t>lr</a:t>
            </a:r>
            <a:r>
              <a:rPr lang="ko-KR" altLang="en-US" sz="1200" dirty="0">
                <a:solidFill>
                  <a:schemeClr val="bg1"/>
                </a:solidFill>
              </a:rPr>
              <a:t>인 선형회귀 모델 인스턴스를 생성해줍니다</a:t>
            </a:r>
            <a:r>
              <a:rPr lang="en-US" altLang="ko-KR" sz="1200" dirty="0">
                <a:solidFill>
                  <a:schemeClr val="bg1"/>
                </a:solidFill>
              </a:rPr>
              <a:t>. ( </a:t>
            </a:r>
            <a:r>
              <a:rPr lang="ko-KR" altLang="en-US" sz="1200" dirty="0">
                <a:solidFill>
                  <a:schemeClr val="bg1"/>
                </a:solidFill>
              </a:rPr>
              <a:t>기본적으로 절편을 포함하고 정규화는 하지 않음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</a:rPr>
              <a:t>학습데이터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en-US" altLang="ko-KR" sz="1200" dirty="0" err="1">
                <a:solidFill>
                  <a:schemeClr val="bg1"/>
                </a:solidFill>
              </a:rPr>
              <a:t>X_train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en-US" altLang="ko-KR" sz="1200" dirty="0" err="1">
                <a:solidFill>
                  <a:schemeClr val="bg1"/>
                </a:solidFill>
              </a:rPr>
              <a:t>y_train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  <a:r>
              <a:rPr lang="ko-KR" altLang="en-US" sz="1200" dirty="0">
                <a:solidFill>
                  <a:schemeClr val="bg1"/>
                </a:solidFill>
              </a:rPr>
              <a:t>를 사용하여 모델학습을 진행합니다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ko-KR" altLang="en-US" sz="1200" dirty="0">
                <a:solidFill>
                  <a:schemeClr val="bg1"/>
                </a:solidFill>
              </a:rPr>
              <a:t>여기서 </a:t>
            </a:r>
            <a:r>
              <a:rPr lang="en-US" altLang="ko-KR" sz="1200" dirty="0" err="1">
                <a:solidFill>
                  <a:schemeClr val="bg1"/>
                </a:solidFill>
              </a:rPr>
              <a:t>X_train</a:t>
            </a:r>
            <a:r>
              <a:rPr lang="ko-KR" altLang="en-US" sz="1200" dirty="0">
                <a:solidFill>
                  <a:schemeClr val="bg1"/>
                </a:solidFill>
              </a:rPr>
              <a:t>은 독립변수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ko-KR" altLang="en-US" sz="1200" dirty="0" err="1">
                <a:solidFill>
                  <a:schemeClr val="bg1"/>
                </a:solidFill>
              </a:rPr>
              <a:t>입력값</a:t>
            </a:r>
            <a:r>
              <a:rPr lang="en-US" altLang="ko-KR" sz="1200" dirty="0">
                <a:solidFill>
                  <a:schemeClr val="bg1"/>
                </a:solidFill>
              </a:rPr>
              <a:t>), </a:t>
            </a:r>
            <a:r>
              <a:rPr lang="en-US" altLang="ko-KR" sz="1200" dirty="0" err="1">
                <a:solidFill>
                  <a:schemeClr val="bg1"/>
                </a:solidFill>
              </a:rPr>
              <a:t>y_train</a:t>
            </a:r>
            <a:r>
              <a:rPr lang="ko-KR" altLang="en-US" sz="1200" dirty="0">
                <a:solidFill>
                  <a:schemeClr val="bg1"/>
                </a:solidFill>
              </a:rPr>
              <a:t>은 종속변수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ko-KR" altLang="en-US" sz="1200" dirty="0">
                <a:solidFill>
                  <a:schemeClr val="bg1"/>
                </a:solidFill>
              </a:rPr>
              <a:t>정답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및 </a:t>
            </a:r>
            <a:r>
              <a:rPr lang="en-US" altLang="ko-KR" sz="1200" dirty="0">
                <a:solidFill>
                  <a:schemeClr val="bg1"/>
                </a:solidFill>
              </a:rPr>
              <a:t>target)</a:t>
            </a:r>
            <a:r>
              <a:rPr lang="ko-KR" altLang="en-US" sz="1200" dirty="0">
                <a:solidFill>
                  <a:schemeClr val="bg1"/>
                </a:solidFill>
              </a:rPr>
              <a:t>를 의미합니다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</a:rPr>
              <a:t>검증용 데이터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en-US" altLang="ko-KR" sz="1200" dirty="0" err="1">
                <a:solidFill>
                  <a:schemeClr val="bg1"/>
                </a:solidFill>
              </a:rPr>
              <a:t>X_val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  <a:r>
              <a:rPr lang="ko-KR" altLang="en-US" sz="1200" dirty="0">
                <a:solidFill>
                  <a:schemeClr val="bg1"/>
                </a:solidFill>
              </a:rPr>
              <a:t>에 대해 학습된 모델로 예측을 수행합니다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 err="1">
                <a:solidFill>
                  <a:schemeClr val="bg1"/>
                </a:solidFill>
              </a:rPr>
              <a:t>X_val</a:t>
            </a:r>
            <a:r>
              <a:rPr lang="ko-KR" altLang="en-US" sz="1200" dirty="0">
                <a:solidFill>
                  <a:schemeClr val="bg1"/>
                </a:solidFill>
              </a:rPr>
              <a:t>는 정답을 모르는 테스트 데이터를 의미합니다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ko-KR" altLang="en-US" sz="1200" dirty="0">
                <a:solidFill>
                  <a:schemeClr val="bg1"/>
                </a:solidFill>
              </a:rPr>
              <a:t>결과로 각 샘플의 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y_pred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ko-KR" altLang="en-US" sz="1200" dirty="0" err="1">
                <a:solidFill>
                  <a:schemeClr val="bg1"/>
                </a:solidFill>
              </a:rPr>
              <a:t>예측값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  <a:r>
              <a:rPr lang="ko-KR" altLang="en-US" sz="1200" dirty="0">
                <a:solidFill>
                  <a:schemeClr val="bg1"/>
                </a:solidFill>
              </a:rPr>
              <a:t>을 반환합니다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 err="1">
                <a:solidFill>
                  <a:schemeClr val="bg1"/>
                </a:solidFill>
              </a:rPr>
              <a:t>y_pred</a:t>
            </a:r>
            <a:r>
              <a:rPr lang="ko-KR" altLang="en-US" sz="1200" dirty="0">
                <a:solidFill>
                  <a:schemeClr val="bg1"/>
                </a:solidFill>
              </a:rPr>
              <a:t>로 </a:t>
            </a:r>
            <a:r>
              <a:rPr lang="ko-KR" altLang="en-US" sz="1200" dirty="0" err="1">
                <a:solidFill>
                  <a:schemeClr val="bg1"/>
                </a:solidFill>
              </a:rPr>
              <a:t>예측값들을</a:t>
            </a:r>
            <a:r>
              <a:rPr lang="ko-KR" altLang="en-US" sz="1200" dirty="0">
                <a:solidFill>
                  <a:schemeClr val="bg1"/>
                </a:solidFill>
              </a:rPr>
              <a:t> 확인해 봅니다</a:t>
            </a:r>
            <a:r>
              <a:rPr lang="en-US" altLang="ko-KR" sz="1200" dirty="0">
                <a:solidFill>
                  <a:schemeClr val="bg1"/>
                </a:solidFill>
              </a:rPr>
              <a:t>. </a:t>
            </a:r>
            <a:r>
              <a:rPr lang="ko-KR" altLang="en-US" sz="1200" dirty="0">
                <a:solidFill>
                  <a:schemeClr val="bg1"/>
                </a:solidFill>
              </a:rPr>
              <a:t>우리는 </a:t>
            </a:r>
            <a:r>
              <a:rPr lang="en-US" altLang="ko-KR" sz="1200" dirty="0">
                <a:solidFill>
                  <a:schemeClr val="bg1"/>
                </a:solidFill>
              </a:rPr>
              <a:t>'</a:t>
            </a:r>
            <a:r>
              <a:rPr lang="en-US" altLang="ko-KR" sz="1200" dirty="0" err="1">
                <a:solidFill>
                  <a:schemeClr val="bg1"/>
                </a:solidFill>
              </a:rPr>
              <a:t>Item_Outlet_Sales</a:t>
            </a:r>
            <a:r>
              <a:rPr lang="en-US" altLang="ko-KR" sz="1200" dirty="0">
                <a:solidFill>
                  <a:schemeClr val="bg1"/>
                </a:solidFill>
              </a:rPr>
              <a:t>’ </a:t>
            </a:r>
            <a:r>
              <a:rPr lang="ko-KR" altLang="en-US" sz="1200" dirty="0">
                <a:solidFill>
                  <a:schemeClr val="bg1"/>
                </a:solidFill>
              </a:rPr>
              <a:t>이 </a:t>
            </a:r>
            <a:r>
              <a:rPr lang="ko-KR" altLang="en-US" sz="1200" dirty="0" err="1">
                <a:solidFill>
                  <a:schemeClr val="bg1"/>
                </a:solidFill>
              </a:rPr>
              <a:t>타겟값입니다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endParaRPr lang="en-US" altLang="ko-KR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5948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 및 평가 지표 확인</a:t>
            </a: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(MSE, MAE, RMSE, R2) – </a:t>
            </a: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평가 지표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8BE0F0E-D3A2-4F8B-BA45-FF17263476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816" y="2223821"/>
            <a:ext cx="4058216" cy="365811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F661DEE-CF4A-41CB-8760-2B4E35F2DF79}"/>
                  </a:ext>
                </a:extLst>
              </p:cNvPr>
              <p:cNvSpPr txBox="1"/>
              <p:nvPr/>
            </p:nvSpPr>
            <p:spPr>
              <a:xfrm>
                <a:off x="5611894" y="1688707"/>
                <a:ext cx="5522517" cy="5043112"/>
              </a:xfrm>
              <a:prstGeom prst="rect">
                <a:avLst/>
              </a:prstGeom>
              <a:noFill/>
              <a:ln>
                <a:solidFill>
                  <a:schemeClr val="accent4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171450" indent="-171450">
                  <a:lnSpc>
                    <a:spcPct val="150000"/>
                  </a:lnSpc>
                  <a:buFontTx/>
                  <a:buChar char="-"/>
                </a:pPr>
                <a:r>
                  <a:rPr lang="ko-KR" altLang="en-US" sz="1200" dirty="0">
                    <a:solidFill>
                      <a:schemeClr val="bg1"/>
                    </a:solidFill>
                  </a:rPr>
                  <a:t>평가 지수 관련 함수를 불러옵니다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.</a:t>
                </a:r>
              </a:p>
              <a:p>
                <a:pPr marL="171450" indent="-171450">
                  <a:lnSpc>
                    <a:spcPct val="150000"/>
                  </a:lnSpc>
                  <a:buFontTx/>
                  <a:buChar char="-"/>
                </a:pPr>
                <a:r>
                  <a:rPr lang="en-US" altLang="ko-KR" sz="1200" dirty="0">
                    <a:solidFill>
                      <a:schemeClr val="bg1"/>
                    </a:solidFill>
                  </a:rPr>
                  <a:t>1. MSE(Mean Squared Error)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:r>
                  <a:rPr lang="ko-KR" altLang="en-US" sz="1200" dirty="0" err="1">
                    <a:solidFill>
                      <a:schemeClr val="bg1"/>
                    </a:solidFill>
                  </a:rPr>
                  <a:t>실제값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(</a:t>
                </a:r>
                <a:r>
                  <a:rPr lang="en-US" altLang="ko-KR" sz="1200" dirty="0" err="1">
                    <a:solidFill>
                      <a:schemeClr val="bg1"/>
                    </a:solidFill>
                  </a:rPr>
                  <a:t>y_val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)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과 </a:t>
                </a:r>
                <a:r>
                  <a:rPr lang="ko-KR" altLang="en-US" sz="1200" dirty="0" err="1">
                    <a:solidFill>
                      <a:schemeClr val="bg1"/>
                    </a:solidFill>
                  </a:rPr>
                  <a:t>예측값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(</a:t>
                </a:r>
                <a:r>
                  <a:rPr lang="en-US" altLang="ko-KR" sz="1200" dirty="0" err="1">
                    <a:solidFill>
                      <a:schemeClr val="bg1"/>
                    </a:solidFill>
                  </a:rPr>
                  <a:t>y_pred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)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의 차이를 제곱하여 평균을 낸 값으로 오차가 클수록 제곱으로 인해 지표가 급격하게 커지는 이상치에 민감한 지표입니다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.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14:m>
                  <m:oMath xmlns:m="http://schemas.openxmlformats.org/officeDocument/2006/math">
                    <m:r>
                      <a:rPr lang="en-US" altLang="ko-KR" sz="12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altLang="ko-KR" sz="1200" dirty="0">
                    <a:solidFill>
                      <a:schemeClr val="bg1"/>
                    </a:solidFill>
                  </a:rPr>
                  <a:t> MSE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의 값이 대략 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1,228,220 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정도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?</a:t>
                </a:r>
              </a:p>
              <a:p>
                <a:pPr marL="171450" indent="-171450">
                  <a:lnSpc>
                    <a:spcPct val="150000"/>
                  </a:lnSpc>
                  <a:buFontTx/>
                  <a:buChar char="-"/>
                </a:pPr>
                <a:r>
                  <a:rPr lang="en-US" altLang="ko-KR" sz="1200" dirty="0">
                    <a:solidFill>
                      <a:schemeClr val="bg1"/>
                    </a:solidFill>
                  </a:rPr>
                  <a:t>2. MAE(Mean Absolute Error)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:r>
                  <a:rPr lang="ko-KR" altLang="en-US" sz="1200" dirty="0" err="1">
                    <a:solidFill>
                      <a:schemeClr val="bg1"/>
                    </a:solidFill>
                  </a:rPr>
                  <a:t>실제값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(</a:t>
                </a:r>
                <a:r>
                  <a:rPr lang="en-US" altLang="ko-KR" sz="1200" dirty="0" err="1">
                    <a:solidFill>
                      <a:schemeClr val="bg1"/>
                    </a:solidFill>
                  </a:rPr>
                  <a:t>y_val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)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과 </a:t>
                </a:r>
                <a:r>
                  <a:rPr lang="ko-KR" altLang="en-US" sz="1200" dirty="0" err="1">
                    <a:solidFill>
                      <a:schemeClr val="bg1"/>
                    </a:solidFill>
                  </a:rPr>
                  <a:t>예측값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(</a:t>
                </a:r>
                <a:r>
                  <a:rPr lang="en-US" altLang="ko-KR" sz="1200" dirty="0" err="1">
                    <a:solidFill>
                      <a:schemeClr val="bg1"/>
                    </a:solidFill>
                  </a:rPr>
                  <a:t>y_pred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)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의 차이의 절대값을 </a:t>
                </a:r>
                <a:r>
                  <a:rPr lang="ko-KR" altLang="en-US" sz="1200" dirty="0" err="1">
                    <a:solidFill>
                      <a:schemeClr val="bg1"/>
                    </a:solidFill>
                  </a:rPr>
                  <a:t>평균낸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 값으로 오차의 평균적인 크기를 직관적으로 확인할 수 있고 그만큼 이상치의 영향이 적은 지표입니다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.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14:m>
                  <m:oMath xmlns:m="http://schemas.openxmlformats.org/officeDocument/2006/math">
                    <m:r>
                      <a:rPr lang="en-US" altLang="ko-KR" sz="12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altLang="ko-KR" sz="1200" dirty="0">
                    <a:solidFill>
                      <a:schemeClr val="bg1"/>
                    </a:solidFill>
                  </a:rPr>
                  <a:t> MAE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의 값이 대략 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858 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정도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?</a:t>
                </a:r>
              </a:p>
              <a:p>
                <a:pPr marL="171450" indent="-171450">
                  <a:lnSpc>
                    <a:spcPct val="150000"/>
                  </a:lnSpc>
                  <a:buFontTx/>
                  <a:buChar char="-"/>
                </a:pPr>
                <a:r>
                  <a:rPr lang="en-US" altLang="ko-KR" sz="1200" dirty="0">
                    <a:solidFill>
                      <a:schemeClr val="bg1"/>
                    </a:solidFill>
                  </a:rPr>
                  <a:t>3. RMSE(Root Mean Squared Error)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:r>
                  <a:rPr lang="en-US" altLang="ko-KR" sz="1200" dirty="0">
                    <a:solidFill>
                      <a:schemeClr val="bg1"/>
                    </a:solidFill>
                  </a:rPr>
                  <a:t>MSE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에 제곱근을 취한 값으로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, 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원래 데이터 단위로 </a:t>
                </a:r>
                <a:r>
                  <a:rPr lang="ko-KR" altLang="en-US" sz="1200" dirty="0" err="1">
                    <a:solidFill>
                      <a:schemeClr val="bg1"/>
                    </a:solidFill>
                  </a:rPr>
                  <a:t>환산가능합니다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.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:r>
                  <a:rPr lang="ko-KR" altLang="en-US" sz="1200" dirty="0">
                    <a:solidFill>
                      <a:schemeClr val="bg1"/>
                    </a:solidFill>
                  </a:rPr>
                  <a:t>큰 오차에 민감하고 오차의 전형적 크기를 보여주는 지표입니다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.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14:m>
                  <m:oMath xmlns:m="http://schemas.openxmlformats.org/officeDocument/2006/math">
                    <m:r>
                      <a:rPr lang="en-US" altLang="ko-KR" sz="12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altLang="ko-KR" sz="1200" dirty="0">
                    <a:solidFill>
                      <a:schemeClr val="bg1"/>
                    </a:solidFill>
                  </a:rPr>
                  <a:t> RMSE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의 값이 대략 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1121 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정도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?</a:t>
                </a:r>
              </a:p>
              <a:p>
                <a:pPr marL="171450" indent="-171450">
                  <a:lnSpc>
                    <a:spcPct val="150000"/>
                  </a:lnSpc>
                  <a:buFontTx/>
                  <a:buChar char="-"/>
                </a:pPr>
                <a:r>
                  <a:rPr lang="en-US" altLang="ko-KR" sz="1200" dirty="0">
                    <a:solidFill>
                      <a:schemeClr val="bg1"/>
                    </a:solidFill>
                  </a:rPr>
                  <a:t>4. R2(Coefficient of Determination, 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결정계수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)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:r>
                  <a:rPr lang="ko-KR" altLang="en-US" sz="1200" dirty="0">
                    <a:solidFill>
                      <a:schemeClr val="bg1"/>
                    </a:solidFill>
                  </a:rPr>
                  <a:t>모델이 실제 데이터의 분산을 얼마나 잘 설명하는지 보여주는 지표입니다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.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:r>
                  <a:rPr lang="en-US" altLang="ko-KR" sz="1200" dirty="0">
                    <a:solidFill>
                      <a:schemeClr val="bg1"/>
                    </a:solidFill>
                  </a:rPr>
                  <a:t>1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에 가까울수록 설명력이 높은 지표라고 볼 수 있습니다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.</a:t>
                </a:r>
                <a:br>
                  <a:rPr lang="en-US" altLang="ko-KR" sz="1200" dirty="0">
                    <a:solidFill>
                      <a:schemeClr val="bg1"/>
                    </a:solidFill>
                  </a:rPr>
                </a:br>
                <a14:m>
                  <m:oMath xmlns:m="http://schemas.openxmlformats.org/officeDocument/2006/math">
                    <m:r>
                      <a:rPr lang="en-US" altLang="ko-KR" sz="12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altLang="ko-KR" sz="1200" dirty="0">
                    <a:solidFill>
                      <a:schemeClr val="bg1"/>
                    </a:solidFill>
                  </a:rPr>
                  <a:t> R2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의 값이 대략 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0.5 </a:t>
                </a:r>
                <a:r>
                  <a:rPr lang="ko-KR" altLang="en-US" sz="1200" dirty="0">
                    <a:solidFill>
                      <a:schemeClr val="bg1"/>
                    </a:solidFill>
                  </a:rPr>
                  <a:t>정도</a:t>
                </a:r>
                <a:r>
                  <a:rPr lang="en-US" altLang="ko-KR" sz="1200" dirty="0">
                    <a:solidFill>
                      <a:schemeClr val="bg1"/>
                    </a:solidFill>
                  </a:rPr>
                  <a:t>?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F661DEE-CF4A-41CB-8760-2B4E35F2DF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1894" y="1688707"/>
                <a:ext cx="5522517" cy="5043112"/>
              </a:xfrm>
              <a:prstGeom prst="rect">
                <a:avLst/>
              </a:prstGeom>
              <a:blipFill>
                <a:blip r:embed="rId4"/>
                <a:stretch>
                  <a:fillRect l="-110" r="-220"/>
                </a:stretch>
              </a:blipFill>
              <a:ln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그림 5">
            <a:extLst>
              <a:ext uri="{FF2B5EF4-FFF2-40B4-BE49-F238E27FC236}">
                <a16:creationId xmlns:a16="http://schemas.microsoft.com/office/drawing/2014/main" id="{EF4A54A9-92BE-42FC-B375-B47AF655F9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9398" y="5998292"/>
            <a:ext cx="1857634" cy="733527"/>
          </a:xfrm>
          <a:prstGeom prst="rect">
            <a:avLst/>
          </a:prstGeom>
        </p:spPr>
      </p:pic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CA61E70D-3730-477F-A562-961D91853A96}"/>
              </a:ext>
            </a:extLst>
          </p:cNvPr>
          <p:cNvCxnSpPr>
            <a:cxnSpLocks/>
            <a:stCxn id="4" idx="2"/>
            <a:endCxn id="6" idx="1"/>
          </p:cNvCxnSpPr>
          <p:nvPr/>
        </p:nvCxnSpPr>
        <p:spPr>
          <a:xfrm rot="16200000" flipH="1">
            <a:off x="2632099" y="6037757"/>
            <a:ext cx="483124" cy="171474"/>
          </a:xfrm>
          <a:prstGeom prst="bentConnector2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3860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 및 평가 지표 확인</a:t>
            </a:r>
            <a:r>
              <a:rPr lang="en-US" altLang="ko-KR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(MSE, MAE, RMSE, R2) – </a:t>
            </a:r>
            <a:r>
              <a:rPr lang="ko-KR" altLang="en-US" sz="28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지표 해석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53A1665-8A3C-48B2-9A11-4A0862B51E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282" y="5105925"/>
            <a:ext cx="2903290" cy="11464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75039BE-340B-416A-A500-8B8117E61741}"/>
              </a:ext>
            </a:extLst>
          </p:cNvPr>
          <p:cNvSpPr txBox="1"/>
          <p:nvPr/>
        </p:nvSpPr>
        <p:spPr>
          <a:xfrm>
            <a:off x="5640925" y="2223618"/>
            <a:ext cx="5522517" cy="3934603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bg1"/>
                </a:solidFill>
              </a:rPr>
              <a:t>&lt;</a:t>
            </a:r>
            <a:r>
              <a:rPr lang="ko-KR" altLang="en-US" sz="1200" b="1" dirty="0">
                <a:solidFill>
                  <a:schemeClr val="bg1"/>
                </a:solidFill>
              </a:rPr>
              <a:t>지표 해석</a:t>
            </a:r>
            <a:r>
              <a:rPr lang="en-US" altLang="ko-KR" sz="1200" b="1" dirty="0">
                <a:solidFill>
                  <a:schemeClr val="bg1"/>
                </a:solidFill>
              </a:rPr>
              <a:t>&gt;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bg1"/>
                </a:solidFill>
              </a:rPr>
              <a:t>- </a:t>
            </a:r>
            <a:r>
              <a:rPr lang="en-US" altLang="ko-KR" sz="1200" dirty="0" err="1">
                <a:solidFill>
                  <a:schemeClr val="bg1"/>
                </a:solidFill>
              </a:rPr>
              <a:t>Item_Outlet_Sales</a:t>
            </a:r>
            <a:r>
              <a:rPr lang="ko-KR" altLang="en-US" sz="1200" dirty="0">
                <a:solidFill>
                  <a:schemeClr val="bg1"/>
                </a:solidFill>
              </a:rPr>
              <a:t>의 평균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표준편차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최소값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최대값을 근거로 해석해봅니다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</a:rPr>
              <a:t>평균 매출이 약 </a:t>
            </a:r>
            <a:r>
              <a:rPr lang="en-US" altLang="ko-KR" sz="1200" dirty="0">
                <a:solidFill>
                  <a:schemeClr val="bg1"/>
                </a:solidFill>
              </a:rPr>
              <a:t>2,190, </a:t>
            </a:r>
            <a:r>
              <a:rPr lang="ko-KR" altLang="en-US" sz="1200" dirty="0">
                <a:solidFill>
                  <a:schemeClr val="bg1"/>
                </a:solidFill>
              </a:rPr>
              <a:t>표준편차가 </a:t>
            </a:r>
            <a:r>
              <a:rPr lang="en-US" altLang="ko-KR" sz="1200" dirty="0">
                <a:solidFill>
                  <a:schemeClr val="bg1"/>
                </a:solidFill>
              </a:rPr>
              <a:t>1,706 </a:t>
            </a:r>
            <a:r>
              <a:rPr lang="ko-KR" altLang="en-US" sz="1200" dirty="0">
                <a:solidFill>
                  <a:schemeClr val="bg1"/>
                </a:solidFill>
              </a:rPr>
              <a:t>정도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endParaRPr lang="en-US" altLang="ko-KR" sz="1200" dirty="0">
              <a:solidFill>
                <a:schemeClr val="bg1"/>
              </a:solidFill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solidFill>
                  <a:schemeClr val="bg1"/>
                </a:solidFill>
              </a:rPr>
              <a:t>1. MAE = 858.96</a:t>
            </a:r>
            <a:r>
              <a:rPr lang="ko-KR" altLang="en-US" sz="1200" dirty="0">
                <a:solidFill>
                  <a:schemeClr val="bg1"/>
                </a:solidFill>
              </a:rPr>
              <a:t>으로 평균적으로 예측이 약 </a:t>
            </a:r>
            <a:r>
              <a:rPr lang="en-US" altLang="ko-KR" sz="1200" dirty="0">
                <a:solidFill>
                  <a:schemeClr val="bg1"/>
                </a:solidFill>
              </a:rPr>
              <a:t>859</a:t>
            </a:r>
            <a:r>
              <a:rPr lang="ko-KR" altLang="en-US" sz="1200" dirty="0">
                <a:solidFill>
                  <a:schemeClr val="bg1"/>
                </a:solidFill>
              </a:rPr>
              <a:t>정도 틀리고 전체 매출 평균에 비해 약 </a:t>
            </a:r>
            <a:r>
              <a:rPr lang="en-US" altLang="ko-KR" sz="1200" dirty="0">
                <a:solidFill>
                  <a:schemeClr val="bg1"/>
                </a:solidFill>
              </a:rPr>
              <a:t>39%</a:t>
            </a:r>
            <a:r>
              <a:rPr lang="ko-KR" altLang="en-US" sz="1200" dirty="0">
                <a:solidFill>
                  <a:schemeClr val="bg1"/>
                </a:solidFill>
              </a:rPr>
              <a:t>의 오차가 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solidFill>
                  <a:schemeClr val="bg1"/>
                </a:solidFill>
              </a:rPr>
              <a:t>2. RMSE = 1,121.70</a:t>
            </a:r>
            <a:r>
              <a:rPr lang="ko-KR" altLang="en-US" sz="1200" dirty="0">
                <a:solidFill>
                  <a:schemeClr val="bg1"/>
                </a:solidFill>
              </a:rPr>
              <a:t>으로 평균적으로 약 </a:t>
            </a:r>
            <a:r>
              <a:rPr lang="en-US" altLang="ko-KR" sz="1200" dirty="0">
                <a:solidFill>
                  <a:schemeClr val="bg1"/>
                </a:solidFill>
              </a:rPr>
              <a:t>1,121</a:t>
            </a:r>
            <a:r>
              <a:rPr lang="ko-KR" altLang="en-US" sz="1200" dirty="0">
                <a:solidFill>
                  <a:schemeClr val="bg1"/>
                </a:solidFill>
              </a:rPr>
              <a:t>정도의 예측 오차가 납니다</a:t>
            </a:r>
            <a:r>
              <a:rPr lang="en-US" altLang="ko-KR" sz="1200" dirty="0">
                <a:solidFill>
                  <a:schemeClr val="bg1"/>
                </a:solidFill>
              </a:rPr>
              <a:t>. </a:t>
            </a:r>
            <a:r>
              <a:rPr lang="ko-KR" altLang="en-US" sz="1200" dirty="0">
                <a:solidFill>
                  <a:schemeClr val="bg1"/>
                </a:solidFill>
              </a:rPr>
              <a:t>표준편차보다 작으므로 나쁘지 않은 편이라고 볼 수 있습니다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solidFill>
                  <a:schemeClr val="bg1"/>
                </a:solidFill>
              </a:rPr>
              <a:t>3. MSE = 1,228,220 </a:t>
            </a:r>
            <a:r>
              <a:rPr lang="ko-KR" altLang="en-US" sz="1200" dirty="0">
                <a:solidFill>
                  <a:schemeClr val="bg1"/>
                </a:solidFill>
              </a:rPr>
              <a:t>대충 </a:t>
            </a:r>
            <a:r>
              <a:rPr lang="en-US" altLang="ko-KR" sz="1200" dirty="0">
                <a:solidFill>
                  <a:schemeClr val="bg1"/>
                </a:solidFill>
              </a:rPr>
              <a:t>RMSE</a:t>
            </a:r>
            <a:r>
              <a:rPr lang="ko-KR" altLang="en-US" sz="1200" dirty="0">
                <a:solidFill>
                  <a:schemeClr val="bg1"/>
                </a:solidFill>
              </a:rPr>
              <a:t>와 비슷한 지표해석을 한다고 볼 수 있습니다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solidFill>
                  <a:schemeClr val="bg1"/>
                </a:solidFill>
              </a:rPr>
              <a:t>4. R2 = 0,5153</a:t>
            </a:r>
            <a:r>
              <a:rPr lang="ko-KR" altLang="en-US" sz="1200" dirty="0">
                <a:solidFill>
                  <a:schemeClr val="bg1"/>
                </a:solidFill>
              </a:rPr>
              <a:t>으로 이 회귀모델이 매출 변동의 약 </a:t>
            </a:r>
            <a:r>
              <a:rPr lang="en-US" altLang="ko-KR" sz="1200" dirty="0">
                <a:solidFill>
                  <a:schemeClr val="bg1"/>
                </a:solidFill>
              </a:rPr>
              <a:t>51.5%</a:t>
            </a:r>
            <a:r>
              <a:rPr lang="ko-KR" altLang="en-US" sz="1200" dirty="0">
                <a:solidFill>
                  <a:schemeClr val="bg1"/>
                </a:solidFill>
              </a:rPr>
              <a:t>정도를 설명한다고 볼 수 있고 절반정도의 설명력을 갖기때문에 그냥 저냥 적당한 수준의 설명력이라고 볼 수 있습니다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200" dirty="0">
              <a:solidFill>
                <a:schemeClr val="bg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B992C98-41E2-4E2A-B1E3-BF310E821C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282" y="2356144"/>
            <a:ext cx="533474" cy="2553056"/>
          </a:xfrm>
          <a:prstGeom prst="rect">
            <a:avLst/>
          </a:prstGeom>
          <a:ln>
            <a:solidFill>
              <a:schemeClr val="accent4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3BA1BB9-39F9-4E12-BBE1-C211C7183A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9756" y="2356144"/>
            <a:ext cx="1181265" cy="2553056"/>
          </a:xfrm>
          <a:prstGeom prst="rect">
            <a:avLst/>
          </a:prstGeom>
          <a:ln>
            <a:solidFill>
              <a:schemeClr val="accent4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5966181-BC86-4E9C-8B43-7860E907398A}"/>
              </a:ext>
            </a:extLst>
          </p:cNvPr>
          <p:cNvSpPr txBox="1"/>
          <p:nvPr/>
        </p:nvSpPr>
        <p:spPr>
          <a:xfrm>
            <a:off x="758815" y="1890001"/>
            <a:ext cx="2557821" cy="33361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200" b="1" dirty="0">
                <a:solidFill>
                  <a:schemeClr val="bg1"/>
                </a:solidFill>
              </a:rPr>
              <a:t>&lt;</a:t>
            </a:r>
            <a:r>
              <a:rPr lang="en-US" altLang="ko-KR" sz="1200" b="1" dirty="0" err="1">
                <a:solidFill>
                  <a:schemeClr val="bg1"/>
                </a:solidFill>
              </a:rPr>
              <a:t>Item_Outlet_Sales</a:t>
            </a:r>
            <a:r>
              <a:rPr lang="ko-KR" altLang="en-US" sz="1200" b="1" dirty="0">
                <a:solidFill>
                  <a:schemeClr val="bg1"/>
                </a:solidFill>
              </a:rPr>
              <a:t>의 </a:t>
            </a:r>
            <a:r>
              <a:rPr lang="en-US" altLang="ko-KR" sz="1200" b="1" dirty="0">
                <a:solidFill>
                  <a:schemeClr val="bg1"/>
                </a:solidFill>
              </a:rPr>
              <a:t>describe&gt;</a:t>
            </a:r>
          </a:p>
        </p:txBody>
      </p:sp>
    </p:spTree>
    <p:extLst>
      <p:ext uri="{BB962C8B-B14F-4D97-AF65-F5344CB8AC3E}">
        <p14:creationId xmlns:p14="http://schemas.microsoft.com/office/powerpoint/2010/main" val="787852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5.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성능개선방안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20E497-DBB8-4DF0-B98A-86257023FBC7}"/>
              </a:ext>
            </a:extLst>
          </p:cNvPr>
          <p:cNvSpPr txBox="1"/>
          <p:nvPr/>
        </p:nvSpPr>
        <p:spPr>
          <a:xfrm>
            <a:off x="573482" y="1695707"/>
            <a:ext cx="10504826" cy="144161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bg1"/>
                </a:solidFill>
              </a:rPr>
              <a:t>&lt;</a:t>
            </a:r>
            <a:r>
              <a:rPr lang="ko-KR" altLang="en-US" sz="1200" b="1" dirty="0">
                <a:solidFill>
                  <a:schemeClr val="bg1"/>
                </a:solidFill>
              </a:rPr>
              <a:t>성능개선방안 </a:t>
            </a:r>
            <a:r>
              <a:rPr lang="en-US" altLang="ko-KR" sz="1200" b="1" dirty="0">
                <a:solidFill>
                  <a:schemeClr val="bg1"/>
                </a:solidFill>
              </a:rPr>
              <a:t>– </a:t>
            </a:r>
            <a:r>
              <a:rPr lang="en-US" altLang="ko-KR" sz="1200" b="1" dirty="0" err="1">
                <a:solidFill>
                  <a:schemeClr val="bg1"/>
                </a:solidFill>
              </a:rPr>
              <a:t>LightGBM</a:t>
            </a:r>
            <a:r>
              <a:rPr lang="en-US" altLang="ko-KR" sz="1200" b="1" dirty="0">
                <a:solidFill>
                  <a:schemeClr val="bg1"/>
                </a:solidFill>
              </a:rPr>
              <a:t> </a:t>
            </a:r>
            <a:r>
              <a:rPr lang="ko-KR" altLang="en-US" sz="1200" b="1" dirty="0">
                <a:solidFill>
                  <a:schemeClr val="bg1"/>
                </a:solidFill>
              </a:rPr>
              <a:t>사용</a:t>
            </a:r>
            <a:r>
              <a:rPr lang="en-US" altLang="ko-KR" sz="1200" b="1" dirty="0">
                <a:solidFill>
                  <a:schemeClr val="bg1"/>
                </a:solidFill>
              </a:rPr>
              <a:t>&gt;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 err="1">
                <a:solidFill>
                  <a:schemeClr val="bg1"/>
                </a:solidFill>
              </a:rPr>
              <a:t>LightGBM</a:t>
            </a:r>
            <a:r>
              <a:rPr lang="ko-KR" altLang="en-US" sz="1200" dirty="0">
                <a:solidFill>
                  <a:schemeClr val="bg1"/>
                </a:solidFill>
              </a:rPr>
              <a:t>을 사용하면 수많은 비선형 모델을 조합하여 변수간 비선형 관계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상호작용까지 자동 학습이 가능합니다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</a:rPr>
              <a:t>스케일에 거의 영향 받지 않기때문에 입력 변수에 크기에 대한 민감도도 줄어들어 예측력이 높아질 수 있습니다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200" b="1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bg1"/>
                </a:solidFill>
              </a:rPr>
              <a:t>1. </a:t>
            </a:r>
            <a:r>
              <a:rPr lang="ko-KR" altLang="en-US" sz="1200" b="1" dirty="0">
                <a:solidFill>
                  <a:schemeClr val="bg1"/>
                </a:solidFill>
              </a:rPr>
              <a:t>데이터 </a:t>
            </a:r>
            <a:r>
              <a:rPr lang="ko-KR" altLang="en-US" sz="1200" b="1" dirty="0" err="1">
                <a:solidFill>
                  <a:schemeClr val="bg1"/>
                </a:solidFill>
              </a:rPr>
              <a:t>전처리</a:t>
            </a:r>
            <a:r>
              <a:rPr lang="ko-KR" altLang="en-US" sz="1200" b="1" dirty="0">
                <a:solidFill>
                  <a:schemeClr val="bg1"/>
                </a:solidFill>
              </a:rPr>
              <a:t> </a:t>
            </a:r>
            <a:endParaRPr lang="en-US" altLang="ko-KR" sz="1200" b="1" dirty="0">
              <a:solidFill>
                <a:schemeClr val="bg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6679BD9-7A3D-4BF9-9901-C62FA49F33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553" y="3246278"/>
            <a:ext cx="2207258" cy="63447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1D742B6-3558-45F8-950B-2827070D5F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3650" y="3252015"/>
            <a:ext cx="3543795" cy="62873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221983B-0DAC-4A8E-8C55-F677A60AB6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2779" y="3229359"/>
            <a:ext cx="5142581" cy="130278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EA60441-6758-4A68-96AC-251B0C6682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8137" y="5109377"/>
            <a:ext cx="5142581" cy="104767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B6A1D890-A67C-423F-9526-766507048C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8338" y="4527509"/>
            <a:ext cx="4448796" cy="1629002"/>
          </a:xfrm>
          <a:prstGeom prst="rect">
            <a:avLst/>
          </a:prstGeom>
        </p:spPr>
      </p:pic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B4DA9DB4-B3E5-448F-8A9B-7095A46A41F6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2631811" y="3563516"/>
            <a:ext cx="171839" cy="2868"/>
          </a:xfrm>
          <a:prstGeom prst="bentConnector3">
            <a:avLst>
              <a:gd name="adj1" fmla="val 50000"/>
            </a:avLst>
          </a:prstGeom>
          <a:ln w="95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5EE0C947-6555-43E1-BF56-EE9CC2FD42AB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>
            <a:off x="6347445" y="3566384"/>
            <a:ext cx="185334" cy="314369"/>
          </a:xfrm>
          <a:prstGeom prst="bentConnector3">
            <a:avLst>
              <a:gd name="adj1" fmla="val 50000"/>
            </a:avLst>
          </a:prstGeom>
          <a:ln w="95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B0A4B2A2-34F7-4352-AF68-00125DDEBCDF}"/>
              </a:ext>
            </a:extLst>
          </p:cNvPr>
          <p:cNvCxnSpPr>
            <a:cxnSpLocks/>
            <a:stCxn id="10" idx="2"/>
            <a:endCxn id="13" idx="0"/>
          </p:cNvCxnSpPr>
          <p:nvPr/>
        </p:nvCxnSpPr>
        <p:spPr>
          <a:xfrm rot="16200000" flipH="1">
            <a:off x="8828134" y="4808082"/>
            <a:ext cx="577231" cy="25358"/>
          </a:xfrm>
          <a:prstGeom prst="bentConnector3">
            <a:avLst>
              <a:gd name="adj1" fmla="val 50000"/>
            </a:avLst>
          </a:prstGeom>
          <a:ln w="95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연결선: 꺾임 30">
            <a:extLst>
              <a:ext uri="{FF2B5EF4-FFF2-40B4-BE49-F238E27FC236}">
                <a16:creationId xmlns:a16="http://schemas.microsoft.com/office/drawing/2014/main" id="{277D724C-35AE-48DD-A423-777C46698F21}"/>
              </a:ext>
            </a:extLst>
          </p:cNvPr>
          <p:cNvCxnSpPr>
            <a:cxnSpLocks/>
            <a:stCxn id="13" idx="1"/>
            <a:endCxn id="15" idx="3"/>
          </p:cNvCxnSpPr>
          <p:nvPr/>
        </p:nvCxnSpPr>
        <p:spPr>
          <a:xfrm rot="10800000">
            <a:off x="5247135" y="5342010"/>
            <a:ext cx="1311003" cy="291206"/>
          </a:xfrm>
          <a:prstGeom prst="bentConnector3">
            <a:avLst>
              <a:gd name="adj1" fmla="val 50000"/>
            </a:avLst>
          </a:prstGeom>
          <a:ln w="95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9555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5.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성능개선방안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FD709F65-D9DB-4207-86EB-B68B2FB05D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786" y="1636285"/>
            <a:ext cx="5690244" cy="304133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798D28D-1DE1-4D96-925E-A744BB56DC50}"/>
              </a:ext>
            </a:extLst>
          </p:cNvPr>
          <p:cNvSpPr txBox="1"/>
          <p:nvPr/>
        </p:nvSpPr>
        <p:spPr>
          <a:xfrm>
            <a:off x="6330392" y="2100343"/>
            <a:ext cx="5522517" cy="3103607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chemeClr val="bg1"/>
                </a:solidFill>
              </a:rPr>
              <a:t>&lt;</a:t>
            </a:r>
            <a:r>
              <a:rPr lang="ko-KR" altLang="en-US" sz="1200" b="1" dirty="0">
                <a:solidFill>
                  <a:schemeClr val="bg1"/>
                </a:solidFill>
              </a:rPr>
              <a:t>상관계수</a:t>
            </a:r>
            <a:r>
              <a:rPr lang="en-US" altLang="ko-KR" sz="1200" b="1" dirty="0">
                <a:solidFill>
                  <a:schemeClr val="bg1"/>
                </a:solidFill>
              </a:rPr>
              <a:t>(x</a:t>
            </a:r>
            <a:r>
              <a:rPr lang="ko-KR" altLang="en-US" sz="1200" b="1" dirty="0">
                <a:solidFill>
                  <a:schemeClr val="bg1"/>
                </a:solidFill>
              </a:rPr>
              <a:t>후보들 </a:t>
            </a:r>
            <a:r>
              <a:rPr lang="en-US" altLang="ko-KR" sz="1200" b="1" dirty="0">
                <a:solidFill>
                  <a:schemeClr val="bg1"/>
                </a:solidFill>
              </a:rPr>
              <a:t>– y</a:t>
            </a:r>
            <a:r>
              <a:rPr lang="ko-KR" altLang="en-US" sz="1200" b="1" dirty="0">
                <a:solidFill>
                  <a:schemeClr val="bg1"/>
                </a:solidFill>
              </a:rPr>
              <a:t>값</a:t>
            </a:r>
            <a:r>
              <a:rPr lang="en-US" altLang="ko-KR" sz="1200" b="1" dirty="0">
                <a:solidFill>
                  <a:schemeClr val="bg1"/>
                </a:solidFill>
              </a:rPr>
              <a:t>)</a:t>
            </a:r>
            <a:r>
              <a:rPr lang="ko-KR" altLang="en-US" sz="1200" b="1" dirty="0">
                <a:solidFill>
                  <a:schemeClr val="bg1"/>
                </a:solidFill>
              </a:rPr>
              <a:t>가 낮은 컬럼들 제거</a:t>
            </a:r>
            <a:r>
              <a:rPr lang="en-US" altLang="ko-KR" sz="1200" b="1" dirty="0">
                <a:solidFill>
                  <a:schemeClr val="bg1"/>
                </a:solidFill>
              </a:rPr>
              <a:t>&gt;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</a:rPr>
              <a:t>상관계수 절대값이 </a:t>
            </a:r>
            <a:r>
              <a:rPr lang="en-US" altLang="ko-KR" sz="1200" dirty="0">
                <a:solidFill>
                  <a:schemeClr val="bg1"/>
                </a:solidFill>
              </a:rPr>
              <a:t>0.03 </a:t>
            </a:r>
            <a:r>
              <a:rPr lang="ko-KR" altLang="en-US" sz="1200" dirty="0">
                <a:solidFill>
                  <a:schemeClr val="bg1"/>
                </a:solidFill>
              </a:rPr>
              <a:t>미만이면 거의 상관이 없는 수준으로 변수를 간주합니다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</a:rPr>
              <a:t>원본 데이터를 복사하여 </a:t>
            </a:r>
            <a:r>
              <a:rPr lang="en-US" altLang="ko-KR" sz="1200" dirty="0" err="1">
                <a:solidFill>
                  <a:schemeClr val="bg1"/>
                </a:solidFill>
              </a:rPr>
              <a:t>df_corr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생성하고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 err="1">
                <a:solidFill>
                  <a:schemeClr val="bg1"/>
                </a:solidFill>
              </a:rPr>
              <a:t>타깃값을</a:t>
            </a:r>
            <a:r>
              <a:rPr lang="ko-KR" altLang="en-US" sz="1200" dirty="0">
                <a:solidFill>
                  <a:schemeClr val="bg1"/>
                </a:solidFill>
              </a:rPr>
              <a:t> 새로운 컬럼으로 추가해 줍니다</a:t>
            </a:r>
            <a:r>
              <a:rPr lang="en-US" altLang="ko-KR" sz="1200" dirty="0">
                <a:solidFill>
                  <a:schemeClr val="bg1"/>
                </a:solidFill>
              </a:rPr>
              <a:t>.(</a:t>
            </a:r>
            <a:r>
              <a:rPr lang="ko-KR" altLang="en-US" sz="1200" dirty="0">
                <a:solidFill>
                  <a:schemeClr val="bg1"/>
                </a:solidFill>
              </a:rPr>
              <a:t>상관계수 계산용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 err="1">
                <a:solidFill>
                  <a:schemeClr val="bg1"/>
                </a:solidFill>
              </a:rPr>
              <a:t>Numeric_only</a:t>
            </a:r>
            <a:r>
              <a:rPr lang="en-US" altLang="ko-KR" sz="1200" dirty="0">
                <a:solidFill>
                  <a:schemeClr val="bg1"/>
                </a:solidFill>
              </a:rPr>
              <a:t>=True</a:t>
            </a:r>
            <a:r>
              <a:rPr lang="ko-KR" altLang="en-US" sz="1200" dirty="0">
                <a:solidFill>
                  <a:schemeClr val="bg1"/>
                </a:solidFill>
              </a:rPr>
              <a:t>를 통해 숫자형 변수만 상관계수를 </a:t>
            </a:r>
            <a:r>
              <a:rPr lang="ko-KR" altLang="en-US" sz="1200" dirty="0" err="1">
                <a:solidFill>
                  <a:schemeClr val="bg1"/>
                </a:solidFill>
              </a:rPr>
              <a:t>게산합니다</a:t>
            </a:r>
            <a:r>
              <a:rPr lang="en-US" altLang="ko-KR" sz="1200" dirty="0">
                <a:solidFill>
                  <a:schemeClr val="bg1"/>
                </a:solidFill>
              </a:rPr>
              <a:t>.(</a:t>
            </a:r>
            <a:r>
              <a:rPr lang="ko-KR" altLang="en-US" sz="1200" dirty="0">
                <a:solidFill>
                  <a:schemeClr val="bg1"/>
                </a:solidFill>
              </a:rPr>
              <a:t>문자형 컬럼은 제외함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>
                <a:solidFill>
                  <a:schemeClr val="bg1"/>
                </a:solidFill>
              </a:rPr>
              <a:t>__target__</a:t>
            </a:r>
            <a:r>
              <a:rPr lang="ko-KR" altLang="en-US" sz="1200" dirty="0">
                <a:solidFill>
                  <a:schemeClr val="bg1"/>
                </a:solidFill>
              </a:rPr>
              <a:t>과의 상관계수만 추출하고 지웁니다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</a:rPr>
              <a:t>남길 컬럼과 제거할 컬럼을 구분 한 후 제거할 컬럼 </a:t>
            </a:r>
            <a:r>
              <a:rPr lang="en-US" altLang="ko-KR" sz="1200" dirty="0" err="1">
                <a:solidFill>
                  <a:schemeClr val="bg1"/>
                </a:solidFill>
              </a:rPr>
              <a:t>Item_Fat_Content</a:t>
            </a:r>
            <a:r>
              <a:rPr lang="ko-KR" altLang="en-US" sz="1200" dirty="0">
                <a:solidFill>
                  <a:schemeClr val="bg1"/>
                </a:solidFill>
              </a:rPr>
              <a:t>와 </a:t>
            </a:r>
            <a:r>
              <a:rPr lang="en-US" altLang="ko-KR" sz="1200" dirty="0" err="1">
                <a:solidFill>
                  <a:schemeClr val="bg1"/>
                </a:solidFill>
              </a:rPr>
              <a:t>Item_Type</a:t>
            </a:r>
            <a:r>
              <a:rPr lang="ko-KR" altLang="en-US" sz="1200" dirty="0">
                <a:solidFill>
                  <a:schemeClr val="bg1"/>
                </a:solidFill>
              </a:rPr>
              <a:t>을 제거합니다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endParaRPr lang="en-US" altLang="ko-KR" sz="1200" dirty="0">
              <a:solidFill>
                <a:schemeClr val="bg1"/>
              </a:solidFill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B0256EF8-7733-40B3-83FE-6DEEE5C737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786" y="4860026"/>
            <a:ext cx="3505689" cy="1476581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1653D24C-D49F-48B5-8DE6-EF51B93227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6475" y="5193447"/>
            <a:ext cx="1905266" cy="1143160"/>
          </a:xfrm>
          <a:prstGeom prst="rect">
            <a:avLst/>
          </a:prstGeom>
        </p:spPr>
      </p:pic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DA7EAA62-4B70-440F-B513-59DD51741E8B}"/>
              </a:ext>
            </a:extLst>
          </p:cNvPr>
          <p:cNvCxnSpPr>
            <a:cxnSpLocks/>
            <a:stCxn id="24" idx="3"/>
            <a:endCxn id="21" idx="2"/>
          </p:cNvCxnSpPr>
          <p:nvPr/>
        </p:nvCxnSpPr>
        <p:spPr>
          <a:xfrm flipV="1">
            <a:off x="5761741" y="5203950"/>
            <a:ext cx="3329910" cy="561077"/>
          </a:xfrm>
          <a:prstGeom prst="bentConnector2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06651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5.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성능개선방안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8B2D37-16F8-4928-8169-3BFBEC1BEE1A}"/>
              </a:ext>
            </a:extLst>
          </p:cNvPr>
          <p:cNvSpPr txBox="1"/>
          <p:nvPr/>
        </p:nvSpPr>
        <p:spPr>
          <a:xfrm>
            <a:off x="1296559" y="5360669"/>
            <a:ext cx="9679517" cy="1441613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b="1" dirty="0" err="1">
                <a:solidFill>
                  <a:schemeClr val="bg1"/>
                </a:solidFill>
              </a:rPr>
              <a:t>LightGBM</a:t>
            </a:r>
            <a:r>
              <a:rPr lang="en-US" altLang="ko-KR" sz="1200" b="1" dirty="0">
                <a:solidFill>
                  <a:schemeClr val="bg1"/>
                </a:solidFill>
              </a:rPr>
              <a:t> </a:t>
            </a:r>
            <a:r>
              <a:rPr lang="ko-KR" altLang="en-US" sz="1200" b="1" dirty="0">
                <a:solidFill>
                  <a:schemeClr val="bg1"/>
                </a:solidFill>
              </a:rPr>
              <a:t>라이브러리를 불러옵니다</a:t>
            </a:r>
            <a:r>
              <a:rPr lang="en-US" altLang="ko-KR" sz="1200" b="1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 err="1">
                <a:solidFill>
                  <a:schemeClr val="bg1"/>
                </a:solidFill>
              </a:rPr>
              <a:t>LGBMRegressor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객체를 만들어줍니다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ko-KR" altLang="en-US" sz="1200" dirty="0">
                <a:solidFill>
                  <a:schemeClr val="bg1"/>
                </a:solidFill>
              </a:rPr>
              <a:t>재현 가능한 결과를 위해 난수를 고정시키고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학습 시 출력 메시지를 숨깁니다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 err="1">
                <a:solidFill>
                  <a:schemeClr val="bg1"/>
                </a:solidFill>
              </a:rPr>
              <a:t>X_train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ko-KR" altLang="en-US" sz="1200" dirty="0" err="1">
                <a:solidFill>
                  <a:schemeClr val="bg1"/>
                </a:solidFill>
              </a:rPr>
              <a:t>입력값</a:t>
            </a:r>
            <a:r>
              <a:rPr lang="en-US" altLang="ko-KR" sz="1200" dirty="0">
                <a:solidFill>
                  <a:schemeClr val="bg1"/>
                </a:solidFill>
              </a:rPr>
              <a:t>), </a:t>
            </a:r>
            <a:r>
              <a:rPr lang="en-US" altLang="ko-KR" sz="1200" dirty="0" err="1">
                <a:solidFill>
                  <a:schemeClr val="bg1"/>
                </a:solidFill>
              </a:rPr>
              <a:t>y_train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ko-KR" altLang="en-US" sz="1200" dirty="0" err="1">
                <a:solidFill>
                  <a:schemeClr val="bg1"/>
                </a:solidFill>
              </a:rPr>
              <a:t>타겟값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  <a:r>
              <a:rPr lang="ko-KR" altLang="en-US" sz="1200" dirty="0">
                <a:solidFill>
                  <a:schemeClr val="bg1"/>
                </a:solidFill>
              </a:rPr>
              <a:t>을</a:t>
            </a:r>
            <a:r>
              <a:rPr lang="en-US" altLang="ko-KR" sz="1200" dirty="0">
                <a:solidFill>
                  <a:schemeClr val="bg1"/>
                </a:solidFill>
              </a:rPr>
              <a:t> fit()</a:t>
            </a:r>
            <a:r>
              <a:rPr lang="ko-KR" altLang="en-US" sz="1200" dirty="0">
                <a:solidFill>
                  <a:schemeClr val="bg1"/>
                </a:solidFill>
              </a:rPr>
              <a:t>을 통해 모델이 데이터의 패턴을 학습할 수 있습니다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 err="1">
                <a:solidFill>
                  <a:schemeClr val="bg1"/>
                </a:solidFill>
              </a:rPr>
              <a:t>X_val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ko-KR" altLang="en-US" sz="1200" dirty="0">
                <a:solidFill>
                  <a:schemeClr val="bg1"/>
                </a:solidFill>
              </a:rPr>
              <a:t>검증용 입력 데이터</a:t>
            </a:r>
            <a:r>
              <a:rPr lang="en-US" altLang="ko-KR" sz="1200" dirty="0">
                <a:solidFill>
                  <a:schemeClr val="bg1"/>
                </a:solidFill>
              </a:rPr>
              <a:t>), predict()</a:t>
            </a:r>
            <a:r>
              <a:rPr lang="ko-KR" altLang="en-US" sz="1200" dirty="0">
                <a:solidFill>
                  <a:schemeClr val="bg1"/>
                </a:solidFill>
              </a:rPr>
              <a:t>를 사용하여 </a:t>
            </a:r>
            <a:r>
              <a:rPr lang="en-US" altLang="ko-KR" sz="1200" dirty="0" err="1">
                <a:solidFill>
                  <a:schemeClr val="bg1"/>
                </a:solidFill>
              </a:rPr>
              <a:t>y_pred_lgb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ko-KR" altLang="en-US" sz="1200" dirty="0" err="1">
                <a:solidFill>
                  <a:schemeClr val="bg1"/>
                </a:solidFill>
              </a:rPr>
              <a:t>예측값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  <a:r>
              <a:rPr lang="ko-KR" altLang="en-US" sz="1200" dirty="0">
                <a:solidFill>
                  <a:schemeClr val="bg1"/>
                </a:solidFill>
              </a:rPr>
              <a:t>을 생성합니다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9FDDF1CE-8F0E-4C40-A90B-184978FE71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80" y="3429000"/>
            <a:ext cx="4672762" cy="1197311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AFC6EE07-C9EA-4991-A30F-45236D4993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214" y="1780945"/>
            <a:ext cx="4677428" cy="164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519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5.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성능개선방안 지표 해석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0E500A03-4917-4FA7-8BF8-E7658BB1A0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122" y="2104109"/>
            <a:ext cx="5861983" cy="363527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B39F05A-7708-436F-A1EE-EFE348E2DA8F}"/>
              </a:ext>
            </a:extLst>
          </p:cNvPr>
          <p:cNvSpPr txBox="1"/>
          <p:nvPr/>
        </p:nvSpPr>
        <p:spPr>
          <a:xfrm>
            <a:off x="5733397" y="2203133"/>
            <a:ext cx="6361541" cy="1718612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b="1" dirty="0" err="1">
                <a:solidFill>
                  <a:schemeClr val="bg1"/>
                </a:solidFill>
              </a:rPr>
              <a:t>LightGBM</a:t>
            </a:r>
            <a:r>
              <a:rPr lang="en-US" altLang="ko-KR" sz="1200" b="1" dirty="0">
                <a:solidFill>
                  <a:schemeClr val="bg1"/>
                </a:solidFill>
              </a:rPr>
              <a:t> </a:t>
            </a:r>
            <a:r>
              <a:rPr lang="ko-KR" altLang="en-US" sz="1200" b="1" dirty="0">
                <a:solidFill>
                  <a:schemeClr val="bg1"/>
                </a:solidFill>
              </a:rPr>
              <a:t>라이브러리를 불러옵니다</a:t>
            </a:r>
            <a:r>
              <a:rPr lang="en-US" altLang="ko-KR" sz="1200" b="1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 err="1">
                <a:solidFill>
                  <a:schemeClr val="bg1"/>
                </a:solidFill>
              </a:rPr>
              <a:t>LGBMRegressor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객체를 만들어줍니다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ko-KR" altLang="en-US" sz="1200" dirty="0">
                <a:solidFill>
                  <a:schemeClr val="bg1"/>
                </a:solidFill>
              </a:rPr>
              <a:t>재현 가능한 결과를 위해 난수를 고정시키고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ko-KR" altLang="en-US" sz="1200" dirty="0">
                <a:solidFill>
                  <a:schemeClr val="bg1"/>
                </a:solidFill>
              </a:rPr>
              <a:t>학습 시 출력 메시지를 숨깁니다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 err="1">
                <a:solidFill>
                  <a:schemeClr val="bg1"/>
                </a:solidFill>
              </a:rPr>
              <a:t>X_train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ko-KR" altLang="en-US" sz="1200" dirty="0" err="1">
                <a:solidFill>
                  <a:schemeClr val="bg1"/>
                </a:solidFill>
              </a:rPr>
              <a:t>입력값</a:t>
            </a:r>
            <a:r>
              <a:rPr lang="en-US" altLang="ko-KR" sz="1200" dirty="0">
                <a:solidFill>
                  <a:schemeClr val="bg1"/>
                </a:solidFill>
              </a:rPr>
              <a:t>), </a:t>
            </a:r>
            <a:r>
              <a:rPr lang="en-US" altLang="ko-KR" sz="1200" dirty="0" err="1">
                <a:solidFill>
                  <a:schemeClr val="bg1"/>
                </a:solidFill>
              </a:rPr>
              <a:t>y_train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ko-KR" altLang="en-US" sz="1200" dirty="0" err="1">
                <a:solidFill>
                  <a:schemeClr val="bg1"/>
                </a:solidFill>
              </a:rPr>
              <a:t>타겟값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  <a:r>
              <a:rPr lang="ko-KR" altLang="en-US" sz="1200" dirty="0">
                <a:solidFill>
                  <a:schemeClr val="bg1"/>
                </a:solidFill>
              </a:rPr>
              <a:t>을</a:t>
            </a:r>
            <a:r>
              <a:rPr lang="en-US" altLang="ko-KR" sz="1200" dirty="0">
                <a:solidFill>
                  <a:schemeClr val="bg1"/>
                </a:solidFill>
              </a:rPr>
              <a:t> fit()</a:t>
            </a:r>
            <a:r>
              <a:rPr lang="ko-KR" altLang="en-US" sz="1200" dirty="0">
                <a:solidFill>
                  <a:schemeClr val="bg1"/>
                </a:solidFill>
              </a:rPr>
              <a:t>을 통해 모델이 데이터의 패턴을 학습할 수 있습니다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 err="1">
                <a:solidFill>
                  <a:schemeClr val="bg1"/>
                </a:solidFill>
              </a:rPr>
              <a:t>X_val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ko-KR" altLang="en-US" sz="1200" dirty="0">
                <a:solidFill>
                  <a:schemeClr val="bg1"/>
                </a:solidFill>
              </a:rPr>
              <a:t>검증용 입력 데이터</a:t>
            </a:r>
            <a:r>
              <a:rPr lang="en-US" altLang="ko-KR" sz="1200" dirty="0">
                <a:solidFill>
                  <a:schemeClr val="bg1"/>
                </a:solidFill>
              </a:rPr>
              <a:t>), predict()</a:t>
            </a:r>
            <a:r>
              <a:rPr lang="ko-KR" altLang="en-US" sz="1200" dirty="0">
                <a:solidFill>
                  <a:schemeClr val="bg1"/>
                </a:solidFill>
              </a:rPr>
              <a:t>를 사용하여 </a:t>
            </a:r>
            <a:r>
              <a:rPr lang="en-US" altLang="ko-KR" sz="1200" dirty="0" err="1">
                <a:solidFill>
                  <a:schemeClr val="bg1"/>
                </a:solidFill>
              </a:rPr>
              <a:t>y_pred_lgb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ko-KR" altLang="en-US" sz="1200" dirty="0" err="1">
                <a:solidFill>
                  <a:schemeClr val="bg1"/>
                </a:solidFill>
              </a:rPr>
              <a:t>예측값</a:t>
            </a:r>
            <a:r>
              <a:rPr lang="en-US" altLang="ko-KR" sz="1200" dirty="0">
                <a:solidFill>
                  <a:schemeClr val="bg1"/>
                </a:solidFill>
              </a:rPr>
              <a:t>)</a:t>
            </a:r>
            <a:r>
              <a:rPr lang="ko-KR" altLang="en-US" sz="1200" dirty="0">
                <a:solidFill>
                  <a:schemeClr val="bg1"/>
                </a:solidFill>
              </a:rPr>
              <a:t>을 생성합니다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75000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5. </a:t>
            </a:r>
            <a:r>
              <a: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성능개선방안 지표 해석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F5E348-AF06-4F1D-81C9-423E55AD5498}"/>
              </a:ext>
            </a:extLst>
          </p:cNvPr>
          <p:cNvSpPr txBox="1"/>
          <p:nvPr/>
        </p:nvSpPr>
        <p:spPr>
          <a:xfrm>
            <a:off x="758816" y="1773197"/>
            <a:ext cx="5522517" cy="33361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bg1"/>
                </a:solidFill>
              </a:rPr>
              <a:t>&lt;</a:t>
            </a:r>
            <a:r>
              <a:rPr lang="ko-KR" altLang="en-US" sz="1200" dirty="0">
                <a:solidFill>
                  <a:schemeClr val="bg1"/>
                </a:solidFill>
              </a:rPr>
              <a:t>성능개선방안 지표해석</a:t>
            </a:r>
            <a:r>
              <a:rPr lang="en-US" altLang="ko-KR" sz="1200" dirty="0">
                <a:solidFill>
                  <a:schemeClr val="bg1"/>
                </a:solidFill>
              </a:rPr>
              <a:t>&gt;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FA4AB97E-A02B-4A1A-AD68-2D115875FB74}"/>
              </a:ext>
            </a:extLst>
          </p:cNvPr>
          <p:cNvGraphicFramePr>
            <a:graphicFrameLocks noGrp="1"/>
          </p:cNvGraphicFramePr>
          <p:nvPr/>
        </p:nvGraphicFramePr>
        <p:xfrm>
          <a:off x="869627" y="2237839"/>
          <a:ext cx="8128000" cy="1854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72484884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2809776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86292793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4039274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선형회귀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err="1"/>
                        <a:t>LightGBM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변화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0858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MSE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1,258,220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1,174,239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약 </a:t>
                      </a:r>
                      <a:r>
                        <a:rPr lang="en-US" altLang="ko-KR" sz="1200" dirty="0"/>
                        <a:t>6.7% </a:t>
                      </a:r>
                      <a:r>
                        <a:rPr lang="ko-KR" altLang="en-US" sz="1200" dirty="0"/>
                        <a:t>감소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4870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MAE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858.96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755.97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약 </a:t>
                      </a:r>
                      <a:r>
                        <a:rPr lang="en-US" altLang="ko-KR" sz="1200" dirty="0"/>
                        <a:t>12% </a:t>
                      </a:r>
                      <a:r>
                        <a:rPr lang="ko-KR" altLang="en-US" sz="1200" dirty="0"/>
                        <a:t>감소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6784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RMSE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1,121,70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1,083.62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약 </a:t>
                      </a:r>
                      <a:r>
                        <a:rPr lang="en-US" altLang="ko-KR" sz="1200" dirty="0"/>
                        <a:t>3.4% </a:t>
                      </a:r>
                      <a:r>
                        <a:rPr lang="ko-KR" altLang="en-US" sz="1200" dirty="0"/>
                        <a:t>감소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5871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R2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0.5153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0.5477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약 </a:t>
                      </a:r>
                      <a:r>
                        <a:rPr lang="en-US" altLang="ko-KR" sz="1200" dirty="0"/>
                        <a:t>3.2% </a:t>
                      </a:r>
                      <a:r>
                        <a:rPr lang="ko-KR" altLang="en-US" sz="1200" dirty="0"/>
                        <a:t>향상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9984923"/>
                  </a:ext>
                </a:extLst>
              </a:tr>
            </a:tbl>
          </a:graphicData>
        </a:graphic>
      </p:graphicFrame>
      <p:sp>
        <p:nvSpPr>
          <p:cNvPr id="5" name="화살표: 아래쪽 4">
            <a:extLst>
              <a:ext uri="{FF2B5EF4-FFF2-40B4-BE49-F238E27FC236}">
                <a16:creationId xmlns:a16="http://schemas.microsoft.com/office/drawing/2014/main" id="{7734B76E-B3F7-4F0A-98D5-846F08DE5A8F}"/>
              </a:ext>
            </a:extLst>
          </p:cNvPr>
          <p:cNvSpPr/>
          <p:nvPr/>
        </p:nvSpPr>
        <p:spPr>
          <a:xfrm>
            <a:off x="7377947" y="2732007"/>
            <a:ext cx="108703" cy="163593"/>
          </a:xfrm>
          <a:prstGeom prst="downArrow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화살표: 아래쪽 9">
            <a:extLst>
              <a:ext uri="{FF2B5EF4-FFF2-40B4-BE49-F238E27FC236}">
                <a16:creationId xmlns:a16="http://schemas.microsoft.com/office/drawing/2014/main" id="{C08AF3DB-30B9-49AB-B3FC-8BC6039E869D}"/>
              </a:ext>
            </a:extLst>
          </p:cNvPr>
          <p:cNvSpPr/>
          <p:nvPr/>
        </p:nvSpPr>
        <p:spPr>
          <a:xfrm>
            <a:off x="7377947" y="3089492"/>
            <a:ext cx="108703" cy="163593"/>
          </a:xfrm>
          <a:prstGeom prst="downArrow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화살표: 아래쪽 10">
            <a:extLst>
              <a:ext uri="{FF2B5EF4-FFF2-40B4-BE49-F238E27FC236}">
                <a16:creationId xmlns:a16="http://schemas.microsoft.com/office/drawing/2014/main" id="{8A19882E-A643-421B-83F0-F18A49297B85}"/>
              </a:ext>
            </a:extLst>
          </p:cNvPr>
          <p:cNvSpPr/>
          <p:nvPr/>
        </p:nvSpPr>
        <p:spPr>
          <a:xfrm>
            <a:off x="7377947" y="3460373"/>
            <a:ext cx="108703" cy="163593"/>
          </a:xfrm>
          <a:prstGeom prst="downArrow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화살표: 아래쪽 11">
            <a:extLst>
              <a:ext uri="{FF2B5EF4-FFF2-40B4-BE49-F238E27FC236}">
                <a16:creationId xmlns:a16="http://schemas.microsoft.com/office/drawing/2014/main" id="{DEB783FF-663F-4AFF-8029-DB81BE03DBD3}"/>
              </a:ext>
            </a:extLst>
          </p:cNvPr>
          <p:cNvSpPr/>
          <p:nvPr/>
        </p:nvSpPr>
        <p:spPr>
          <a:xfrm rot="10800000">
            <a:off x="7377947" y="3830557"/>
            <a:ext cx="108703" cy="163593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127AE4-EF4E-4D1B-AB97-70232BCF8C30}"/>
              </a:ext>
            </a:extLst>
          </p:cNvPr>
          <p:cNvSpPr txBox="1"/>
          <p:nvPr/>
        </p:nvSpPr>
        <p:spPr>
          <a:xfrm>
            <a:off x="869627" y="4186354"/>
            <a:ext cx="8128000" cy="887615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200" dirty="0" err="1">
                <a:solidFill>
                  <a:schemeClr val="bg1"/>
                </a:solidFill>
              </a:rPr>
              <a:t>LightGBM</a:t>
            </a:r>
            <a:r>
              <a:rPr lang="ko-KR" altLang="en-US" sz="1200" dirty="0">
                <a:solidFill>
                  <a:schemeClr val="bg1"/>
                </a:solidFill>
              </a:rPr>
              <a:t>으로 약간의 성능 개선은 있었지만 </a:t>
            </a:r>
            <a:r>
              <a:rPr lang="en-US" altLang="ko-KR" sz="1200" dirty="0">
                <a:solidFill>
                  <a:schemeClr val="bg1"/>
                </a:solidFill>
              </a:rPr>
              <a:t>R2</a:t>
            </a:r>
            <a:r>
              <a:rPr lang="ko-KR" altLang="en-US" sz="1200" dirty="0">
                <a:solidFill>
                  <a:schemeClr val="bg1"/>
                </a:solidFill>
              </a:rPr>
              <a:t>값을 보아 큰 폭의 향상은 없었다는 걸 알 수 있습니다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200" dirty="0">
                <a:solidFill>
                  <a:schemeClr val="bg1"/>
                </a:solidFill>
              </a:rPr>
              <a:t>아마 입력편수</a:t>
            </a:r>
            <a:r>
              <a:rPr lang="en-US" altLang="ko-KR" sz="1200" dirty="0">
                <a:solidFill>
                  <a:schemeClr val="bg1"/>
                </a:solidFill>
              </a:rPr>
              <a:t>(feature)</a:t>
            </a:r>
            <a:r>
              <a:rPr lang="ko-KR" altLang="en-US" sz="1200" dirty="0">
                <a:solidFill>
                  <a:schemeClr val="bg1"/>
                </a:solidFill>
              </a:rPr>
              <a:t>의 설명력의 한계가 있기에 </a:t>
            </a:r>
            <a:r>
              <a:rPr lang="ko-KR" altLang="en-US" sz="1200" dirty="0" err="1">
                <a:solidFill>
                  <a:schemeClr val="bg1"/>
                </a:solidFill>
              </a:rPr>
              <a:t>그런것</a:t>
            </a:r>
            <a:r>
              <a:rPr lang="ko-KR" altLang="en-US" sz="1200" dirty="0">
                <a:solidFill>
                  <a:schemeClr val="bg1"/>
                </a:solidFill>
              </a:rPr>
              <a:t> 같습니다</a:t>
            </a:r>
            <a:r>
              <a:rPr lang="en-US" altLang="ko-KR" sz="1200" dirty="0">
                <a:solidFill>
                  <a:schemeClr val="bg1"/>
                </a:solidFill>
              </a:rPr>
              <a:t>. </a:t>
            </a:r>
            <a:r>
              <a:rPr lang="ko-KR" altLang="en-US" sz="1200" dirty="0">
                <a:solidFill>
                  <a:schemeClr val="bg1"/>
                </a:solidFill>
              </a:rPr>
              <a:t>현재 데이터의 주요 변수는 </a:t>
            </a:r>
            <a:r>
              <a:rPr lang="en-US" altLang="ko-KR" sz="1200" dirty="0" err="1">
                <a:solidFill>
                  <a:schemeClr val="bg1"/>
                </a:solidFill>
              </a:rPr>
              <a:t>Item_Weight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en-US" altLang="ko-KR" sz="1200" dirty="0" err="1">
                <a:solidFill>
                  <a:schemeClr val="bg1"/>
                </a:solidFill>
              </a:rPr>
              <a:t>Item_Visibility</a:t>
            </a:r>
            <a:r>
              <a:rPr lang="en-US" altLang="ko-KR" sz="1200" dirty="0">
                <a:solidFill>
                  <a:schemeClr val="bg1"/>
                </a:solidFill>
              </a:rPr>
              <a:t>, </a:t>
            </a:r>
            <a:r>
              <a:rPr lang="en-US" altLang="ko-KR" sz="1200" dirty="0" err="1">
                <a:solidFill>
                  <a:schemeClr val="bg1"/>
                </a:solidFill>
              </a:rPr>
              <a:t>Item_MRP</a:t>
            </a:r>
            <a:r>
              <a:rPr lang="en-US" altLang="ko-KR" sz="1200" dirty="0">
                <a:solidFill>
                  <a:schemeClr val="bg1"/>
                </a:solidFill>
              </a:rPr>
              <a:t>,, </a:t>
            </a:r>
            <a:r>
              <a:rPr lang="en-US" altLang="ko-KR" sz="1200" dirty="0" err="1">
                <a:solidFill>
                  <a:schemeClr val="bg1"/>
                </a:solidFill>
              </a:rPr>
              <a:t>Outlet_Establishment_Year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중 매출과 직접적인 상관관계가 강한 변수는 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97346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9EDF5F-EEC7-7330-11DA-82489AF65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FB105F9C-5F0F-C98D-C444-7E79C05C12A2}"/>
              </a:ext>
            </a:extLst>
          </p:cNvPr>
          <p:cNvSpPr txBox="1">
            <a:spLocks/>
          </p:cNvSpPr>
          <p:nvPr/>
        </p:nvSpPr>
        <p:spPr>
          <a:xfrm>
            <a:off x="982980" y="3100841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감사합니다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254065CC-BAF2-2646-6DC9-CCA2AC58DAD8}"/>
              </a:ext>
            </a:extLst>
          </p:cNvPr>
          <p:cNvSpPr txBox="1">
            <a:spLocks/>
          </p:cNvSpPr>
          <p:nvPr/>
        </p:nvSpPr>
        <p:spPr>
          <a:xfrm>
            <a:off x="838200" y="2051483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5400" dirty="0" err="1">
                <a:solidFill>
                  <a:srgbClr val="2C3930"/>
                </a:solidFill>
              </a:rPr>
              <a:t>astpage</a:t>
            </a:r>
            <a:r>
              <a:rPr lang="en-US" altLang="ko-KR" sz="5400" dirty="0" err="1">
                <a:solidFill>
                  <a:schemeClr val="bg1"/>
                </a:solidFill>
              </a:rPr>
              <a:t>Lastpage</a:t>
            </a:r>
            <a:r>
              <a:rPr lang="en-US" altLang="ko-KR" sz="5400" dirty="0">
                <a:solidFill>
                  <a:schemeClr val="bg1"/>
                </a:solidFill>
              </a:rPr>
              <a:t> Project</a:t>
            </a:r>
            <a:r>
              <a:rPr lang="en-US" altLang="ko-KR" sz="5400" dirty="0">
                <a:solidFill>
                  <a:srgbClr val="2C3930"/>
                </a:solidFill>
              </a:rPr>
              <a:t> </a:t>
            </a:r>
            <a:r>
              <a:rPr lang="en-US" altLang="ko-KR" sz="4800" dirty="0">
                <a:solidFill>
                  <a:srgbClr val="2C3930"/>
                </a:solidFill>
              </a:rPr>
              <a:t>Project</a:t>
            </a:r>
            <a:endParaRPr lang="ko-KR" altLang="en-US" sz="4800" dirty="0">
              <a:solidFill>
                <a:srgbClr val="2C3930"/>
              </a:solidFill>
            </a:endParaRPr>
          </a:p>
        </p:txBody>
      </p:sp>
      <p:pic>
        <p:nvPicPr>
          <p:cNvPr id="9" name="그림 8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31E723E-4DFB-CCF9-FB66-49713820EF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221163"/>
            <a:ext cx="807629" cy="8076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A8FCE66-B67E-3DCC-EDC0-BF93D04DBEEA}"/>
              </a:ext>
            </a:extLst>
          </p:cNvPr>
          <p:cNvSpPr txBox="1"/>
          <p:nvPr/>
        </p:nvSpPr>
        <p:spPr>
          <a:xfrm>
            <a:off x="-129540" y="4450080"/>
            <a:ext cx="12420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188F3796-C2DD-4B3B-A779-04A4DEF6B8AF}"/>
              </a:ext>
            </a:extLst>
          </p:cNvPr>
          <p:cNvSpPr txBox="1">
            <a:spLocks/>
          </p:cNvSpPr>
          <p:nvPr/>
        </p:nvSpPr>
        <p:spPr>
          <a:xfrm>
            <a:off x="9707134" y="5409213"/>
            <a:ext cx="2247122" cy="12615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빅데이터</a:t>
            </a:r>
            <a:r>
              <a:rPr lang="en-US" altLang="ko-KR" sz="1400" b="1">
                <a:solidFill>
                  <a:schemeClr val="bg1"/>
                </a:solidFill>
                <a:latin typeface="+mn-ea"/>
              </a:rPr>
              <a:t>UI</a:t>
            </a: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양성과정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손보금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박준형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심예진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5548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3190</TotalTime>
  <Words>1281</Words>
  <Application>Microsoft Office PowerPoint</Application>
  <PresentationFormat>와이드스크린</PresentationFormat>
  <Paragraphs>116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맑은 고딕</vt:lpstr>
      <vt:lpstr>Arial</vt:lpstr>
      <vt:lpstr>Calibri</vt:lpstr>
      <vt:lpstr>Cambria Math</vt:lpstr>
      <vt:lpstr>Office 테마</vt:lpstr>
      <vt:lpstr>PowerPoint 프레젠테이션</vt:lpstr>
      <vt:lpstr>INDEX 및 CONTENTS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Cisco 문제 1번 2. Cisco 문제 2번 3. Jdk설치 + 설정 4. Tomcat 설치 + 설정 5. Eclipse 설치 + 설정</dc:title>
  <dc:creator>FullName</dc:creator>
  <cp:lastModifiedBy>FullName</cp:lastModifiedBy>
  <cp:revision>205</cp:revision>
  <dcterms:created xsi:type="dcterms:W3CDTF">2025-08-05T00:27:28Z</dcterms:created>
  <dcterms:modified xsi:type="dcterms:W3CDTF">2025-11-07T06:00:36Z</dcterms:modified>
</cp:coreProperties>
</file>